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18" r:id="rId1"/>
  </p:sldMasterIdLst>
  <p:notesMasterIdLst>
    <p:notesMasterId r:id="rId15"/>
  </p:notesMasterIdLst>
  <p:sldIdLst>
    <p:sldId id="256" r:id="rId2"/>
    <p:sldId id="257" r:id="rId3"/>
    <p:sldId id="259" r:id="rId4"/>
    <p:sldId id="261" r:id="rId5"/>
    <p:sldId id="280" r:id="rId6"/>
    <p:sldId id="266" r:id="rId7"/>
    <p:sldId id="281" r:id="rId8"/>
    <p:sldId id="268" r:id="rId9"/>
    <p:sldId id="274" r:id="rId10"/>
    <p:sldId id="283" r:id="rId11"/>
    <p:sldId id="284" r:id="rId12"/>
    <p:sldId id="278" r:id="rId13"/>
    <p:sldId id="27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298184-0346-4B19-911B-B3C0478F1DFE}" v="6" dt="2025-11-08T16:55:39.9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nehatejavath14@gmail.com" userId="37a7d0778b3c09b2" providerId="LiveId" clId="{C292A48F-E392-415A-ACE0-36FE64DDCFFE}"/>
    <pc:docChg chg="undo custSel modSld sldOrd">
      <pc:chgData name="snehatejavath14@gmail.com" userId="37a7d0778b3c09b2" providerId="LiveId" clId="{C292A48F-E392-415A-ACE0-36FE64DDCFFE}" dt="2025-11-08T17:17:41.849" v="366" actId="20577"/>
      <pc:docMkLst>
        <pc:docMk/>
      </pc:docMkLst>
      <pc:sldChg chg="modSp mod">
        <pc:chgData name="snehatejavath14@gmail.com" userId="37a7d0778b3c09b2" providerId="LiveId" clId="{C292A48F-E392-415A-ACE0-36FE64DDCFFE}" dt="2025-11-08T17:12:03.921" v="325" actId="14100"/>
        <pc:sldMkLst>
          <pc:docMk/>
          <pc:sldMk cId="0" sldId="256"/>
        </pc:sldMkLst>
        <pc:spChg chg="mod">
          <ac:chgData name="snehatejavath14@gmail.com" userId="37a7d0778b3c09b2" providerId="LiveId" clId="{C292A48F-E392-415A-ACE0-36FE64DDCFFE}" dt="2025-11-08T17:12:03.921" v="325" actId="14100"/>
          <ac:spMkLst>
            <pc:docMk/>
            <pc:sldMk cId="0" sldId="256"/>
            <ac:spMk id="2" creationId="{070A878D-F7AE-4FBA-9F2C-D72392E73060}"/>
          </ac:spMkLst>
        </pc:spChg>
        <pc:spChg chg="mod">
          <ac:chgData name="snehatejavath14@gmail.com" userId="37a7d0778b3c09b2" providerId="LiveId" clId="{C292A48F-E392-415A-ACE0-36FE64DDCFFE}" dt="2025-11-08T17:11:49.065" v="324" actId="255"/>
          <ac:spMkLst>
            <pc:docMk/>
            <pc:sldMk cId="0" sldId="256"/>
            <ac:spMk id="1029" creationId="{00000000-0000-0000-0000-000000000000}"/>
          </ac:spMkLst>
        </pc:spChg>
        <pc:spChg chg="mod">
          <ac:chgData name="snehatejavath14@gmail.com" userId="37a7d0778b3c09b2" providerId="LiveId" clId="{C292A48F-E392-415A-ACE0-36FE64DDCFFE}" dt="2025-11-08T16:58:59.912" v="301" actId="14100"/>
          <ac:spMkLst>
            <pc:docMk/>
            <pc:sldMk cId="0" sldId="256"/>
            <ac:spMk id="1030" creationId="{00000000-0000-0000-0000-000000000000}"/>
          </ac:spMkLst>
        </pc:spChg>
      </pc:sldChg>
      <pc:sldChg chg="modSp mod">
        <pc:chgData name="snehatejavath14@gmail.com" userId="37a7d0778b3c09b2" providerId="LiveId" clId="{C292A48F-E392-415A-ACE0-36FE64DDCFFE}" dt="2025-11-08T16:34:18.655" v="99" actId="255"/>
        <pc:sldMkLst>
          <pc:docMk/>
          <pc:sldMk cId="0" sldId="257"/>
        </pc:sldMkLst>
        <pc:spChg chg="mod">
          <ac:chgData name="snehatejavath14@gmail.com" userId="37a7d0778b3c09b2" providerId="LiveId" clId="{C292A48F-E392-415A-ACE0-36FE64DDCFFE}" dt="2025-11-08T16:34:18.655" v="99" actId="255"/>
          <ac:spMkLst>
            <pc:docMk/>
            <pc:sldMk cId="0" sldId="257"/>
            <ac:spMk id="2" creationId="{00000000-0000-0000-0000-000000000000}"/>
          </ac:spMkLst>
        </pc:spChg>
      </pc:sldChg>
      <pc:sldChg chg="modSp mod">
        <pc:chgData name="snehatejavath14@gmail.com" userId="37a7d0778b3c09b2" providerId="LiveId" clId="{C292A48F-E392-415A-ACE0-36FE64DDCFFE}" dt="2025-11-08T17:15:48.963" v="348" actId="20577"/>
        <pc:sldMkLst>
          <pc:docMk/>
          <pc:sldMk cId="0" sldId="259"/>
        </pc:sldMkLst>
        <pc:spChg chg="mod">
          <ac:chgData name="snehatejavath14@gmail.com" userId="37a7d0778b3c09b2" providerId="LiveId" clId="{C292A48F-E392-415A-ACE0-36FE64DDCFFE}" dt="2025-11-08T17:15:48.963" v="348" actId="20577"/>
          <ac:spMkLst>
            <pc:docMk/>
            <pc:sldMk cId="0" sldId="259"/>
            <ac:spMk id="2" creationId="{54ACC19F-2435-4E23-8921-C66867BB24AF}"/>
          </ac:spMkLst>
        </pc:spChg>
        <pc:spChg chg="mod">
          <ac:chgData name="snehatejavath14@gmail.com" userId="37a7d0778b3c09b2" providerId="LiveId" clId="{C292A48F-E392-415A-ACE0-36FE64DDCFFE}" dt="2025-11-08T16:29:58.262" v="65" actId="255"/>
          <ac:spMkLst>
            <pc:docMk/>
            <pc:sldMk cId="0" sldId="259"/>
            <ac:spMk id="4098" creationId="{00000000-0000-0000-0000-000000000000}"/>
          </ac:spMkLst>
        </pc:spChg>
      </pc:sldChg>
      <pc:sldChg chg="addSp delSp modSp mod chgLayout">
        <pc:chgData name="snehatejavath14@gmail.com" userId="37a7d0778b3c09b2" providerId="LiveId" clId="{C292A48F-E392-415A-ACE0-36FE64DDCFFE}" dt="2025-11-08T17:16:40.492" v="364" actId="20577"/>
        <pc:sldMkLst>
          <pc:docMk/>
          <pc:sldMk cId="0" sldId="261"/>
        </pc:sldMkLst>
        <pc:spChg chg="mod">
          <ac:chgData name="snehatejavath14@gmail.com" userId="37a7d0778b3c09b2" providerId="LiveId" clId="{C292A48F-E392-415A-ACE0-36FE64DDCFFE}" dt="2025-11-08T17:16:40.492" v="364" actId="20577"/>
          <ac:spMkLst>
            <pc:docMk/>
            <pc:sldMk cId="0" sldId="261"/>
            <ac:spMk id="2" creationId="{00000000-0000-0000-0000-000000000000}"/>
          </ac:spMkLst>
        </pc:spChg>
        <pc:spChg chg="add del mod ord">
          <ac:chgData name="snehatejavath14@gmail.com" userId="37a7d0778b3c09b2" providerId="LiveId" clId="{C292A48F-E392-415A-ACE0-36FE64DDCFFE}" dt="2025-11-08T16:31:27.271" v="73" actId="700"/>
          <ac:spMkLst>
            <pc:docMk/>
            <pc:sldMk cId="0" sldId="261"/>
            <ac:spMk id="4" creationId="{F9A2BFAB-8291-9FFB-7007-E69ACA8BDEEF}"/>
          </ac:spMkLst>
        </pc:spChg>
        <pc:spChg chg="add del mod ord">
          <ac:chgData name="snehatejavath14@gmail.com" userId="37a7d0778b3c09b2" providerId="LiveId" clId="{C292A48F-E392-415A-ACE0-36FE64DDCFFE}" dt="2025-11-08T16:31:27.271" v="73" actId="700"/>
          <ac:spMkLst>
            <pc:docMk/>
            <pc:sldMk cId="0" sldId="261"/>
            <ac:spMk id="5" creationId="{C5B9CD9D-C4A7-CFA4-F88D-B132D8DC3872}"/>
          </ac:spMkLst>
        </pc:spChg>
      </pc:sldChg>
      <pc:sldChg chg="modSp mod">
        <pc:chgData name="snehatejavath14@gmail.com" userId="37a7d0778b3c09b2" providerId="LiveId" clId="{C292A48F-E392-415A-ACE0-36FE64DDCFFE}" dt="2025-11-08T17:17:41.849" v="366" actId="20577"/>
        <pc:sldMkLst>
          <pc:docMk/>
          <pc:sldMk cId="0" sldId="266"/>
        </pc:sldMkLst>
        <pc:spChg chg="mod">
          <ac:chgData name="snehatejavath14@gmail.com" userId="37a7d0778b3c09b2" providerId="LiveId" clId="{C292A48F-E392-415A-ACE0-36FE64DDCFFE}" dt="2025-11-08T17:17:41.849" v="366" actId="20577"/>
          <ac:spMkLst>
            <pc:docMk/>
            <pc:sldMk cId="0" sldId="266"/>
            <ac:spMk id="3" creationId="{00000000-0000-0000-0000-000000000000}"/>
          </ac:spMkLst>
        </pc:spChg>
      </pc:sldChg>
      <pc:sldChg chg="modSp mod">
        <pc:chgData name="snehatejavath14@gmail.com" userId="37a7d0778b3c09b2" providerId="LiveId" clId="{C292A48F-E392-415A-ACE0-36FE64DDCFFE}" dt="2025-11-08T16:42:25.097" v="192" actId="2710"/>
        <pc:sldMkLst>
          <pc:docMk/>
          <pc:sldMk cId="0" sldId="268"/>
        </pc:sldMkLst>
        <pc:spChg chg="mod">
          <ac:chgData name="snehatejavath14@gmail.com" userId="37a7d0778b3c09b2" providerId="LiveId" clId="{C292A48F-E392-415A-ACE0-36FE64DDCFFE}" dt="2025-11-08T16:42:25.097" v="192" actId="2710"/>
          <ac:spMkLst>
            <pc:docMk/>
            <pc:sldMk cId="0" sldId="268"/>
            <ac:spMk id="3" creationId="{25D05502-309D-4372-A77A-6F4AE5E24619}"/>
          </ac:spMkLst>
        </pc:spChg>
        <pc:spChg chg="mod">
          <ac:chgData name="snehatejavath14@gmail.com" userId="37a7d0778b3c09b2" providerId="LiveId" clId="{C292A48F-E392-415A-ACE0-36FE64DDCFFE}" dt="2025-11-08T16:40:09.668" v="158" actId="255"/>
          <ac:spMkLst>
            <pc:docMk/>
            <pc:sldMk cId="0" sldId="268"/>
            <ac:spMk id="13314" creationId="{00000000-0000-0000-0000-000000000000}"/>
          </ac:spMkLst>
        </pc:spChg>
      </pc:sldChg>
      <pc:sldChg chg="modSp mod">
        <pc:chgData name="snehatejavath14@gmail.com" userId="37a7d0778b3c09b2" providerId="LiveId" clId="{C292A48F-E392-415A-ACE0-36FE64DDCFFE}" dt="2025-11-08T16:56:29.103" v="292" actId="2710"/>
        <pc:sldMkLst>
          <pc:docMk/>
          <pc:sldMk cId="0" sldId="274"/>
        </pc:sldMkLst>
        <pc:spChg chg="mod">
          <ac:chgData name="snehatejavath14@gmail.com" userId="37a7d0778b3c09b2" providerId="LiveId" clId="{C292A48F-E392-415A-ACE0-36FE64DDCFFE}" dt="2025-11-08T16:49:43.198" v="275" actId="20577"/>
          <ac:spMkLst>
            <pc:docMk/>
            <pc:sldMk cId="0" sldId="274"/>
            <ac:spMk id="2" creationId="{00000000-0000-0000-0000-000000000000}"/>
          </ac:spMkLst>
        </pc:spChg>
        <pc:spChg chg="mod">
          <ac:chgData name="snehatejavath14@gmail.com" userId="37a7d0778b3c09b2" providerId="LiveId" clId="{C292A48F-E392-415A-ACE0-36FE64DDCFFE}" dt="2025-11-08T16:56:29.103" v="292" actId="2710"/>
          <ac:spMkLst>
            <pc:docMk/>
            <pc:sldMk cId="0" sldId="274"/>
            <ac:spMk id="5" creationId="{4D1872E4-DAE7-4916-8AD8-0B8D90746942}"/>
          </ac:spMkLst>
        </pc:spChg>
      </pc:sldChg>
      <pc:sldChg chg="modSp mod">
        <pc:chgData name="snehatejavath14@gmail.com" userId="37a7d0778b3c09b2" providerId="LiveId" clId="{C292A48F-E392-415A-ACE0-36FE64DDCFFE}" dt="2025-11-08T17:14:12.075" v="326" actId="14100"/>
        <pc:sldMkLst>
          <pc:docMk/>
          <pc:sldMk cId="0" sldId="278"/>
        </pc:sldMkLst>
        <pc:spChg chg="mod">
          <ac:chgData name="snehatejavath14@gmail.com" userId="37a7d0778b3c09b2" providerId="LiveId" clId="{C292A48F-E392-415A-ACE0-36FE64DDCFFE}" dt="2025-11-08T17:14:12.075" v="326" actId="14100"/>
          <ac:spMkLst>
            <pc:docMk/>
            <pc:sldMk cId="0" sldId="278"/>
            <ac:spMk id="23554" creationId="{00000000-0000-0000-0000-000000000000}"/>
          </ac:spMkLst>
        </pc:spChg>
        <pc:spChg chg="mod">
          <ac:chgData name="snehatejavath14@gmail.com" userId="37a7d0778b3c09b2" providerId="LiveId" clId="{C292A48F-E392-415A-ACE0-36FE64DDCFFE}" dt="2025-11-08T17:02:16.258" v="307" actId="20577"/>
          <ac:spMkLst>
            <pc:docMk/>
            <pc:sldMk cId="0" sldId="278"/>
            <ac:spMk id="23555" creationId="{00000000-0000-0000-0000-000000000000}"/>
          </ac:spMkLst>
        </pc:spChg>
      </pc:sldChg>
      <pc:sldChg chg="modSp mod">
        <pc:chgData name="snehatejavath14@gmail.com" userId="37a7d0778b3c09b2" providerId="LiveId" clId="{C292A48F-E392-415A-ACE0-36FE64DDCFFE}" dt="2025-11-08T16:47:59.636" v="266" actId="14100"/>
        <pc:sldMkLst>
          <pc:docMk/>
          <pc:sldMk cId="0" sldId="279"/>
        </pc:sldMkLst>
        <pc:spChg chg="mod">
          <ac:chgData name="snehatejavath14@gmail.com" userId="37a7d0778b3c09b2" providerId="LiveId" clId="{C292A48F-E392-415A-ACE0-36FE64DDCFFE}" dt="2025-11-08T16:47:59.636" v="266" actId="14100"/>
          <ac:spMkLst>
            <pc:docMk/>
            <pc:sldMk cId="0" sldId="279"/>
            <ac:spMk id="2" creationId="{BBC645F0-80FE-40C8-B4FD-1A4B224220C0}"/>
          </ac:spMkLst>
        </pc:spChg>
      </pc:sldChg>
      <pc:sldChg chg="modSp mod ord">
        <pc:chgData name="snehatejavath14@gmail.com" userId="37a7d0778b3c09b2" providerId="LiveId" clId="{C292A48F-E392-415A-ACE0-36FE64DDCFFE}" dt="2025-11-08T16:36:55.147" v="115"/>
        <pc:sldMkLst>
          <pc:docMk/>
          <pc:sldMk cId="3642637798" sldId="280"/>
        </pc:sldMkLst>
        <pc:spChg chg="mod">
          <ac:chgData name="snehatejavath14@gmail.com" userId="37a7d0778b3c09b2" providerId="LiveId" clId="{C292A48F-E392-415A-ACE0-36FE64DDCFFE}" dt="2025-11-08T16:36:40.444" v="113" actId="5793"/>
          <ac:spMkLst>
            <pc:docMk/>
            <pc:sldMk cId="3642637798" sldId="280"/>
            <ac:spMk id="3" creationId="{17686A03-51B0-4B7A-8AB5-1DFD295B563B}"/>
          </ac:spMkLst>
        </pc:spChg>
      </pc:sldChg>
      <pc:sldChg chg="modSp mod">
        <pc:chgData name="snehatejavath14@gmail.com" userId="37a7d0778b3c09b2" providerId="LiveId" clId="{C292A48F-E392-415A-ACE0-36FE64DDCFFE}" dt="2025-11-08T16:38:20.330" v="154" actId="2710"/>
        <pc:sldMkLst>
          <pc:docMk/>
          <pc:sldMk cId="528253916" sldId="281"/>
        </pc:sldMkLst>
        <pc:spChg chg="mod">
          <ac:chgData name="snehatejavath14@gmail.com" userId="37a7d0778b3c09b2" providerId="LiveId" clId="{C292A48F-E392-415A-ACE0-36FE64DDCFFE}" dt="2025-11-08T16:38:20.330" v="154" actId="2710"/>
          <ac:spMkLst>
            <pc:docMk/>
            <pc:sldMk cId="528253916" sldId="281"/>
            <ac:spMk id="3" creationId="{E50CC78A-6216-4266-B7DA-9BE364F73A2A}"/>
          </ac:spMkLst>
        </pc:spChg>
      </pc:sldChg>
      <pc:sldChg chg="addSp delSp modSp mod modClrScheme chgLayout">
        <pc:chgData name="snehatejavath14@gmail.com" userId="37a7d0778b3c09b2" providerId="LiveId" clId="{C292A48F-E392-415A-ACE0-36FE64DDCFFE}" dt="2025-11-08T16:46:36.859" v="258" actId="20577"/>
        <pc:sldMkLst>
          <pc:docMk/>
          <pc:sldMk cId="866292643" sldId="283"/>
        </pc:sldMkLst>
        <pc:spChg chg="add mod ord">
          <ac:chgData name="snehatejavath14@gmail.com" userId="37a7d0778b3c09b2" providerId="LiveId" clId="{C292A48F-E392-415A-ACE0-36FE64DDCFFE}" dt="2025-11-08T16:46:36.859" v="258" actId="20577"/>
          <ac:spMkLst>
            <pc:docMk/>
            <pc:sldMk cId="866292643" sldId="283"/>
            <ac:spMk id="4" creationId="{DF7BEA76-4F6F-DC7D-4726-E2B18E81729C}"/>
          </ac:spMkLst>
        </pc:spChg>
        <pc:picChg chg="add mod modCrop">
          <ac:chgData name="snehatejavath14@gmail.com" userId="37a7d0778b3c09b2" providerId="LiveId" clId="{C292A48F-E392-415A-ACE0-36FE64DDCFFE}" dt="2025-11-08T16:26:57.199" v="60" actId="14100"/>
          <ac:picMkLst>
            <pc:docMk/>
            <pc:sldMk cId="866292643" sldId="283"/>
            <ac:picMk id="3" creationId="{18866EDE-71F0-9482-08F6-240C38FC32DC}"/>
          </ac:picMkLst>
        </pc:picChg>
        <pc:picChg chg="del">
          <ac:chgData name="snehatejavath14@gmail.com" userId="37a7d0778b3c09b2" providerId="LiveId" clId="{C292A48F-E392-415A-ACE0-36FE64DDCFFE}" dt="2025-11-08T16:24:05.619" v="42" actId="478"/>
          <ac:picMkLst>
            <pc:docMk/>
            <pc:sldMk cId="866292643" sldId="283"/>
            <ac:picMk id="5" creationId="{2F6E97B7-1CEE-48B5-97D9-122B556E5DFF}"/>
          </ac:picMkLst>
        </pc:picChg>
      </pc:sldChg>
      <pc:sldChg chg="addSp delSp modSp mod">
        <pc:chgData name="snehatejavath14@gmail.com" userId="37a7d0778b3c09b2" providerId="LiveId" clId="{C292A48F-E392-415A-ACE0-36FE64DDCFFE}" dt="2025-11-08T16:57:52.302" v="296" actId="14100"/>
        <pc:sldMkLst>
          <pc:docMk/>
          <pc:sldMk cId="2309947304" sldId="284"/>
        </pc:sldMkLst>
        <pc:spChg chg="mod">
          <ac:chgData name="snehatejavath14@gmail.com" userId="37a7d0778b3c09b2" providerId="LiveId" clId="{C292A48F-E392-415A-ACE0-36FE64DDCFFE}" dt="2025-11-08T16:57:36.888" v="294" actId="1076"/>
          <ac:spMkLst>
            <pc:docMk/>
            <pc:sldMk cId="2309947304" sldId="284"/>
            <ac:spMk id="5" creationId="{C2BAAB41-052D-4D93-964B-7620D4F30137}"/>
          </ac:spMkLst>
        </pc:spChg>
        <pc:picChg chg="add mod">
          <ac:chgData name="snehatejavath14@gmail.com" userId="37a7d0778b3c09b2" providerId="LiveId" clId="{C292A48F-E392-415A-ACE0-36FE64DDCFFE}" dt="2025-11-08T16:57:52.302" v="296" actId="14100"/>
          <ac:picMkLst>
            <pc:docMk/>
            <pc:sldMk cId="2309947304" sldId="284"/>
            <ac:picMk id="2" creationId="{C03D45C2-B730-3FB9-B299-C86D56E2C291}"/>
          </ac:picMkLst>
        </pc:picChg>
        <pc:picChg chg="del">
          <ac:chgData name="snehatejavath14@gmail.com" userId="37a7d0778b3c09b2" providerId="LiveId" clId="{C292A48F-E392-415A-ACE0-36FE64DDCFFE}" dt="2025-11-08T16:17:25.076" v="36" actId="478"/>
          <ac:picMkLst>
            <pc:docMk/>
            <pc:sldMk cId="2309947304" sldId="284"/>
            <ac:picMk id="4" creationId="{259744D8-9920-46A1-8EBC-ABE07E40BDE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66E69D-A833-4A0A-99F8-BD473F658C71}" type="datetimeFigureOut">
              <a:rPr lang="en-IN" smtClean="0"/>
              <a:t>08-11-2025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E318EB-6631-4458-8EFE-501A41FA65D4}" type="slidenum">
              <a:rPr lang="en-IN" smtClean="0"/>
              <a:t>‹#›</a:t>
            </a:fld>
            <a:endParaRPr lang="en-IN"/>
          </a:p>
        </p:txBody>
      </p:sp>
    </p:spTree>
    <p:extLst>
      <p:ext uri="{BB962C8B-B14F-4D97-AF65-F5344CB8AC3E}">
        <p14:creationId xmlns:p14="http://schemas.microsoft.com/office/powerpoint/2010/main" val="40316120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318EB-6631-4458-8EFE-501A41FA65D4}" type="slidenum">
              <a:rPr lang="en-IN" smtClean="0"/>
              <a:t>8</a:t>
            </a:fld>
            <a:endParaRPr lang="en-IN"/>
          </a:p>
        </p:txBody>
      </p:sp>
    </p:spTree>
    <p:extLst>
      <p:ext uri="{BB962C8B-B14F-4D97-AF65-F5344CB8AC3E}">
        <p14:creationId xmlns:p14="http://schemas.microsoft.com/office/powerpoint/2010/main" val="775477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318EB-6631-4458-8EFE-501A41FA65D4}" type="slidenum">
              <a:rPr lang="en-IN" smtClean="0"/>
              <a:t>9</a:t>
            </a:fld>
            <a:endParaRPr lang="en-IN"/>
          </a:p>
        </p:txBody>
      </p:sp>
    </p:spTree>
    <p:extLst>
      <p:ext uri="{BB962C8B-B14F-4D97-AF65-F5344CB8AC3E}">
        <p14:creationId xmlns:p14="http://schemas.microsoft.com/office/powerpoint/2010/main" val="11313297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318EB-6631-4458-8EFE-501A41FA65D4}" type="slidenum">
              <a:rPr lang="en-IN" smtClean="0"/>
              <a:t>12</a:t>
            </a:fld>
            <a:endParaRPr lang="en-IN"/>
          </a:p>
        </p:txBody>
      </p:sp>
    </p:spTree>
    <p:extLst>
      <p:ext uri="{BB962C8B-B14F-4D97-AF65-F5344CB8AC3E}">
        <p14:creationId xmlns:p14="http://schemas.microsoft.com/office/powerpoint/2010/main" val="33470019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2205A-AB18-111F-F003-BB9D1D7BEA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FF911AE-9699-1862-FD3F-597ABE4CD0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BE2EDBB-1CE9-D198-8BF3-01E602D091A8}"/>
              </a:ext>
            </a:extLst>
          </p:cNvPr>
          <p:cNvSpPr>
            <a:spLocks noGrp="1"/>
          </p:cNvSpPr>
          <p:nvPr>
            <p:ph type="dt" sz="half" idx="10"/>
          </p:nvPr>
        </p:nvSpPr>
        <p:spPr/>
        <p:txBody>
          <a:bodyPr/>
          <a:lstStyle/>
          <a:p>
            <a:fld id="{B61BEF0D-F0BB-DE4B-95CE-6DB70DBA9567}" type="datetimeFigureOut">
              <a:rPr lang="en-US" smtClean="0"/>
              <a:pPr/>
              <a:t>11/8/2025</a:t>
            </a:fld>
            <a:endParaRPr lang="en-US" dirty="0"/>
          </a:p>
        </p:txBody>
      </p:sp>
      <p:sp>
        <p:nvSpPr>
          <p:cNvPr id="5" name="Footer Placeholder 4">
            <a:extLst>
              <a:ext uri="{FF2B5EF4-FFF2-40B4-BE49-F238E27FC236}">
                <a16:creationId xmlns:a16="http://schemas.microsoft.com/office/drawing/2014/main" id="{D8632031-9FBE-DE5E-B52D-F5534092AED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B32AB33-9470-98A8-6F3A-6481E9514C95}"/>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5419922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9BB85-5B31-E340-3C20-4374C558E4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27C52F2-12C3-9B4D-331F-F0B9A3903C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356FEDF-11E4-D7E6-09E0-C88664B54794}"/>
              </a:ext>
            </a:extLst>
          </p:cNvPr>
          <p:cNvSpPr>
            <a:spLocks noGrp="1"/>
          </p:cNvSpPr>
          <p:nvPr>
            <p:ph type="dt" sz="half" idx="10"/>
          </p:nvPr>
        </p:nvSpPr>
        <p:spPr/>
        <p:txBody>
          <a:bodyPr/>
          <a:lstStyle/>
          <a:p>
            <a:fld id="{B61BEF0D-F0BB-DE4B-95CE-6DB70DBA9567}" type="datetimeFigureOut">
              <a:rPr lang="en-US" smtClean="0"/>
              <a:pPr/>
              <a:t>11/8/2025</a:t>
            </a:fld>
            <a:endParaRPr lang="en-US" dirty="0"/>
          </a:p>
        </p:txBody>
      </p:sp>
      <p:sp>
        <p:nvSpPr>
          <p:cNvPr id="5" name="Footer Placeholder 4">
            <a:extLst>
              <a:ext uri="{FF2B5EF4-FFF2-40B4-BE49-F238E27FC236}">
                <a16:creationId xmlns:a16="http://schemas.microsoft.com/office/drawing/2014/main" id="{98387FAE-02E1-5325-E3EC-9C789088DF6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9E6F4F9-AA83-5124-59B0-BFA61492EB41}"/>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24393584"/>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57761-86B7-2E3F-B416-EC814423A06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74E63DA-D021-37F2-FF85-BC9B18BDD9B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A786746-BBBB-0F4A-308A-CF050FB1D620}"/>
              </a:ext>
            </a:extLst>
          </p:cNvPr>
          <p:cNvSpPr>
            <a:spLocks noGrp="1"/>
          </p:cNvSpPr>
          <p:nvPr>
            <p:ph type="dt" sz="half" idx="10"/>
          </p:nvPr>
        </p:nvSpPr>
        <p:spPr/>
        <p:txBody>
          <a:bodyPr/>
          <a:lstStyle/>
          <a:p>
            <a:fld id="{B61BEF0D-F0BB-DE4B-95CE-6DB70DBA9567}" type="datetimeFigureOut">
              <a:rPr lang="en-US" smtClean="0"/>
              <a:pPr/>
              <a:t>11/8/2025</a:t>
            </a:fld>
            <a:endParaRPr lang="en-US" dirty="0"/>
          </a:p>
        </p:txBody>
      </p:sp>
      <p:sp>
        <p:nvSpPr>
          <p:cNvPr id="5" name="Footer Placeholder 4">
            <a:extLst>
              <a:ext uri="{FF2B5EF4-FFF2-40B4-BE49-F238E27FC236}">
                <a16:creationId xmlns:a16="http://schemas.microsoft.com/office/drawing/2014/main" id="{75AB8B25-A04F-EE5C-4BB1-ABB2CA7D1CF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E185C5C-F16B-6EC0-CBA4-39E8488C38A4}"/>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564806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9996E-4461-731D-9C4F-74CF2D8A716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2B81238-4568-69E0-1008-EE0EAC91FA7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E677FE1-5D89-64F7-E532-89CA1B96CD2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A91312D-7AC0-F5CA-B6D1-6163065A82D9}"/>
              </a:ext>
            </a:extLst>
          </p:cNvPr>
          <p:cNvSpPr>
            <a:spLocks noGrp="1"/>
          </p:cNvSpPr>
          <p:nvPr>
            <p:ph type="dt" sz="half" idx="10"/>
          </p:nvPr>
        </p:nvSpPr>
        <p:spPr/>
        <p:txBody>
          <a:bodyPr/>
          <a:lstStyle/>
          <a:p>
            <a:fld id="{B61BEF0D-F0BB-DE4B-95CE-6DB70DBA9567}" type="datetimeFigureOut">
              <a:rPr lang="en-US" smtClean="0"/>
              <a:pPr/>
              <a:t>11/8/2025</a:t>
            </a:fld>
            <a:endParaRPr lang="en-US" dirty="0"/>
          </a:p>
        </p:txBody>
      </p:sp>
      <p:sp>
        <p:nvSpPr>
          <p:cNvPr id="6" name="Footer Placeholder 5">
            <a:extLst>
              <a:ext uri="{FF2B5EF4-FFF2-40B4-BE49-F238E27FC236}">
                <a16:creationId xmlns:a16="http://schemas.microsoft.com/office/drawing/2014/main" id="{436D0DFF-7E86-AF33-D34A-9DC730898DD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F9470F9-25FD-134E-7B5B-90266D1D2A4B}"/>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1028660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57B63-FDAA-7BA8-7BFF-9EA195EFA94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7301E06-A2EE-D268-FFA6-604ED1DB382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FCC55D9-C9EE-75B1-7CF7-5387060A26F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ECBDDE8-D8F8-27F1-B049-70BFE9D352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956BA4-B7BA-39A5-BD4D-78230FF5F63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3AF9DC3-282E-9648-C85E-50657FBB03D9}"/>
              </a:ext>
            </a:extLst>
          </p:cNvPr>
          <p:cNvSpPr>
            <a:spLocks noGrp="1"/>
          </p:cNvSpPr>
          <p:nvPr>
            <p:ph type="dt" sz="half" idx="10"/>
          </p:nvPr>
        </p:nvSpPr>
        <p:spPr/>
        <p:txBody>
          <a:bodyPr/>
          <a:lstStyle/>
          <a:p>
            <a:fld id="{B61BEF0D-F0BB-DE4B-95CE-6DB70DBA9567}" type="datetimeFigureOut">
              <a:rPr lang="en-US" smtClean="0"/>
              <a:pPr/>
              <a:t>11/8/2025</a:t>
            </a:fld>
            <a:endParaRPr lang="en-US" dirty="0"/>
          </a:p>
        </p:txBody>
      </p:sp>
      <p:sp>
        <p:nvSpPr>
          <p:cNvPr id="8" name="Footer Placeholder 7">
            <a:extLst>
              <a:ext uri="{FF2B5EF4-FFF2-40B4-BE49-F238E27FC236}">
                <a16:creationId xmlns:a16="http://schemas.microsoft.com/office/drawing/2014/main" id="{A5775C4E-8F8D-9C93-6E89-7FD6A7B39EC2}"/>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2AEBEA3C-6847-686C-A5D2-35D58F327867}"/>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6131248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957B4-A4CF-6DF9-4A38-DBA05B463F6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AFBBBF8-0559-ABA2-E67E-4B768A359148}"/>
              </a:ext>
            </a:extLst>
          </p:cNvPr>
          <p:cNvSpPr>
            <a:spLocks noGrp="1"/>
          </p:cNvSpPr>
          <p:nvPr>
            <p:ph type="dt" sz="half" idx="10"/>
          </p:nvPr>
        </p:nvSpPr>
        <p:spPr/>
        <p:txBody>
          <a:bodyPr/>
          <a:lstStyle/>
          <a:p>
            <a:fld id="{B61BEF0D-F0BB-DE4B-95CE-6DB70DBA9567}" type="datetimeFigureOut">
              <a:rPr lang="en-US" smtClean="0"/>
              <a:pPr/>
              <a:t>11/8/2025</a:t>
            </a:fld>
            <a:endParaRPr lang="en-US" dirty="0"/>
          </a:p>
        </p:txBody>
      </p:sp>
      <p:sp>
        <p:nvSpPr>
          <p:cNvPr id="4" name="Footer Placeholder 3">
            <a:extLst>
              <a:ext uri="{FF2B5EF4-FFF2-40B4-BE49-F238E27FC236}">
                <a16:creationId xmlns:a16="http://schemas.microsoft.com/office/drawing/2014/main" id="{8983C8B4-CE36-1B86-48E0-BA6600A6138E}"/>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C3FCCB27-7FBD-EC9C-FC3E-4106BBAE70C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79328322"/>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32C411-9EC2-6ADD-77ED-0CB64FCA909F}"/>
              </a:ext>
            </a:extLst>
          </p:cNvPr>
          <p:cNvSpPr>
            <a:spLocks noGrp="1"/>
          </p:cNvSpPr>
          <p:nvPr>
            <p:ph type="dt" sz="half" idx="10"/>
          </p:nvPr>
        </p:nvSpPr>
        <p:spPr/>
        <p:txBody>
          <a:bodyPr/>
          <a:lstStyle/>
          <a:p>
            <a:fld id="{B61BEF0D-F0BB-DE4B-95CE-6DB70DBA9567}" type="datetimeFigureOut">
              <a:rPr lang="en-US" smtClean="0"/>
              <a:pPr/>
              <a:t>11/8/2025</a:t>
            </a:fld>
            <a:endParaRPr lang="en-US" dirty="0"/>
          </a:p>
        </p:txBody>
      </p:sp>
      <p:sp>
        <p:nvSpPr>
          <p:cNvPr id="3" name="Footer Placeholder 2">
            <a:extLst>
              <a:ext uri="{FF2B5EF4-FFF2-40B4-BE49-F238E27FC236}">
                <a16:creationId xmlns:a16="http://schemas.microsoft.com/office/drawing/2014/main" id="{CF6D761D-1DB1-69E3-E335-D8723A1A5EEB}"/>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F8847E82-29C6-CB36-FB16-AB423E8F486C}"/>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5556037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3F1BD-670A-2E1D-12B4-2F5AA8995F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4B3580D-C2BB-148B-4D94-CD86859E31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E4A0DA0-20C9-0C22-9667-C8D927757D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6E4DE5-BFC8-F37F-665E-8DE764A7F046}"/>
              </a:ext>
            </a:extLst>
          </p:cNvPr>
          <p:cNvSpPr>
            <a:spLocks noGrp="1"/>
          </p:cNvSpPr>
          <p:nvPr>
            <p:ph type="dt" sz="half" idx="10"/>
          </p:nvPr>
        </p:nvSpPr>
        <p:spPr/>
        <p:txBody>
          <a:bodyPr/>
          <a:lstStyle/>
          <a:p>
            <a:fld id="{B61BEF0D-F0BB-DE4B-95CE-6DB70DBA9567}" type="datetimeFigureOut">
              <a:rPr lang="en-US" smtClean="0"/>
              <a:pPr/>
              <a:t>11/8/2025</a:t>
            </a:fld>
            <a:endParaRPr lang="en-US" dirty="0"/>
          </a:p>
        </p:txBody>
      </p:sp>
      <p:sp>
        <p:nvSpPr>
          <p:cNvPr id="6" name="Footer Placeholder 5">
            <a:extLst>
              <a:ext uri="{FF2B5EF4-FFF2-40B4-BE49-F238E27FC236}">
                <a16:creationId xmlns:a16="http://schemas.microsoft.com/office/drawing/2014/main" id="{8742ABB1-C640-07B3-59AF-10A84996A2B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6695B8A-F756-EC84-486D-89D76C68189E}"/>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115921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7EC6F-2FBA-E951-4D8D-FB7A943D47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8A1885B-7D00-4CFB-B43F-EAD3A42BC6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6596147-07D0-4321-F8BD-BFE847FEF9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A86741-2739-19A2-A0B1-00FE7925CE37}"/>
              </a:ext>
            </a:extLst>
          </p:cNvPr>
          <p:cNvSpPr>
            <a:spLocks noGrp="1"/>
          </p:cNvSpPr>
          <p:nvPr>
            <p:ph type="dt" sz="half" idx="10"/>
          </p:nvPr>
        </p:nvSpPr>
        <p:spPr/>
        <p:txBody>
          <a:bodyPr/>
          <a:lstStyle/>
          <a:p>
            <a:fld id="{B61BEF0D-F0BB-DE4B-95CE-6DB70DBA9567}" type="datetimeFigureOut">
              <a:rPr lang="en-US" smtClean="0"/>
              <a:pPr/>
              <a:t>11/8/2025</a:t>
            </a:fld>
            <a:endParaRPr lang="en-US" dirty="0"/>
          </a:p>
        </p:txBody>
      </p:sp>
      <p:sp>
        <p:nvSpPr>
          <p:cNvPr id="6" name="Footer Placeholder 5">
            <a:extLst>
              <a:ext uri="{FF2B5EF4-FFF2-40B4-BE49-F238E27FC236}">
                <a16:creationId xmlns:a16="http://schemas.microsoft.com/office/drawing/2014/main" id="{EB565858-5F60-2E36-B561-B1368C676BA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D2BC6CA-2B71-933D-495F-D4564545D131}"/>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5402586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75138-BA98-6FC9-E44F-FCD6D5918E1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910BDD0-47EE-F8C2-508F-EE0E2A2CDA6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26EEBA-0C86-D0D3-6662-60A6D83A91C0}"/>
              </a:ext>
            </a:extLst>
          </p:cNvPr>
          <p:cNvSpPr>
            <a:spLocks noGrp="1"/>
          </p:cNvSpPr>
          <p:nvPr>
            <p:ph type="dt" sz="half" idx="10"/>
          </p:nvPr>
        </p:nvSpPr>
        <p:spPr/>
        <p:txBody>
          <a:bodyPr/>
          <a:lstStyle/>
          <a:p>
            <a:fld id="{B61BEF0D-F0BB-DE4B-95CE-6DB70DBA9567}" type="datetimeFigureOut">
              <a:rPr lang="en-US" smtClean="0"/>
              <a:pPr/>
              <a:t>11/8/2025</a:t>
            </a:fld>
            <a:endParaRPr lang="en-US" dirty="0"/>
          </a:p>
        </p:txBody>
      </p:sp>
      <p:sp>
        <p:nvSpPr>
          <p:cNvPr id="5" name="Footer Placeholder 4">
            <a:extLst>
              <a:ext uri="{FF2B5EF4-FFF2-40B4-BE49-F238E27FC236}">
                <a16:creationId xmlns:a16="http://schemas.microsoft.com/office/drawing/2014/main" id="{19C58ED1-6245-ADF0-6F71-68EB1B267AC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58C5636-92BB-C273-CC72-32362619AD63}"/>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5564241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17ADC9-4CCA-86E8-E81B-4EFD7DB2B96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2FC7C72-1C01-EEAC-C856-BBF14255FA0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52637EA-E547-929B-2B93-62E6E4CEE6B0}"/>
              </a:ext>
            </a:extLst>
          </p:cNvPr>
          <p:cNvSpPr>
            <a:spLocks noGrp="1"/>
          </p:cNvSpPr>
          <p:nvPr>
            <p:ph type="dt" sz="half" idx="10"/>
          </p:nvPr>
        </p:nvSpPr>
        <p:spPr/>
        <p:txBody>
          <a:bodyPr/>
          <a:lstStyle/>
          <a:p>
            <a:fld id="{B61BEF0D-F0BB-DE4B-95CE-6DB70DBA9567}" type="datetimeFigureOut">
              <a:rPr lang="en-US" smtClean="0"/>
              <a:pPr/>
              <a:t>11/8/2025</a:t>
            </a:fld>
            <a:endParaRPr lang="en-US" dirty="0"/>
          </a:p>
        </p:txBody>
      </p:sp>
      <p:sp>
        <p:nvSpPr>
          <p:cNvPr id="5" name="Footer Placeholder 4">
            <a:extLst>
              <a:ext uri="{FF2B5EF4-FFF2-40B4-BE49-F238E27FC236}">
                <a16:creationId xmlns:a16="http://schemas.microsoft.com/office/drawing/2014/main" id="{1C7A0713-C6F7-C867-4850-1AF3E99FFC9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79F44B9-E6E9-017E-0E9F-7AD78305357D}"/>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1721230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52475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D06279-9CC5-D955-2EC2-2F9BC89FA2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96C75FA-9FFD-00CA-B4B4-96B6390E11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F8F223-800E-41E2-1F47-FC757E6233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11/8/2025</a:t>
            </a:fld>
            <a:endParaRPr lang="en-US" dirty="0"/>
          </a:p>
        </p:txBody>
      </p:sp>
      <p:sp>
        <p:nvSpPr>
          <p:cNvPr id="5" name="Footer Placeholder 4">
            <a:extLst>
              <a:ext uri="{FF2B5EF4-FFF2-40B4-BE49-F238E27FC236}">
                <a16:creationId xmlns:a16="http://schemas.microsoft.com/office/drawing/2014/main" id="{1F43A7F8-69C9-6691-AFCA-985D4D18FF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A146E2A2-239F-06A4-76CB-4D60530F1D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14423380"/>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26" name="Picture 1"/>
          <p:cNvPicPr>
            <a:picLocks noChangeAspect="1"/>
          </p:cNvPicPr>
          <p:nvPr/>
        </p:nvPicPr>
        <p:blipFill>
          <a:blip r:embed="rId2"/>
          <a:stretch>
            <a:fillRect/>
          </a:stretch>
        </p:blipFill>
        <p:spPr>
          <a:xfrm>
            <a:off x="504598" y="801575"/>
            <a:ext cx="1573326" cy="1526998"/>
          </a:xfrm>
          <a:prstGeom prst="rect">
            <a:avLst/>
          </a:prstGeom>
          <a:noFill/>
          <a:ln w="9525">
            <a:noFill/>
          </a:ln>
        </p:spPr>
      </p:pic>
      <p:sp>
        <p:nvSpPr>
          <p:cNvPr id="1027" name="Rectangle 2"/>
          <p:cNvSpPr/>
          <p:nvPr/>
        </p:nvSpPr>
        <p:spPr>
          <a:xfrm>
            <a:off x="2252096" y="801575"/>
            <a:ext cx="8731590" cy="1927451"/>
          </a:xfrm>
          <a:prstGeom prst="rect">
            <a:avLst/>
          </a:prstGeom>
          <a:noFill/>
          <a:ln w="9525">
            <a:noFill/>
          </a:ln>
        </p:spPr>
        <p:txBody>
          <a:bodyPr lIns="0" tIns="0" rIns="0" bIns="0"/>
          <a:lstStyle/>
          <a:p>
            <a:pPr eaLnBrk="1" hangingPunct="1">
              <a:lnSpc>
                <a:spcPts val="2525"/>
              </a:lnSpc>
              <a:spcAft>
                <a:spcPts val="625"/>
              </a:spcAft>
              <a:buNone/>
            </a:pPr>
            <a:r>
              <a:rPr sz="2000" b="1" dirty="0">
                <a:latin typeface="Times New Roman" panose="02020603050405020304" pitchFamily="18" charset="0"/>
              </a:rPr>
              <a:t>JAWAHARLAL NEHRU TECHNOLOGICAL UNIVERSITY HYDERABAD</a:t>
            </a:r>
          </a:p>
          <a:p>
            <a:pPr algn="ctr" eaLnBrk="1" hangingPunct="1">
              <a:spcAft>
                <a:spcPts val="625"/>
              </a:spcAft>
              <a:buNone/>
            </a:pPr>
            <a:r>
              <a:rPr sz="2000" b="1" dirty="0">
                <a:latin typeface="Times New Roman" panose="02020603050405020304" pitchFamily="18" charset="0"/>
              </a:rPr>
              <a:t>UNIVERSITY COLLEGE OF ENGINEERING MANTHANI</a:t>
            </a:r>
          </a:p>
          <a:p>
            <a:pPr algn="ctr" eaLnBrk="1" hangingPunct="1">
              <a:spcAft>
                <a:spcPts val="2725"/>
              </a:spcAft>
              <a:buNone/>
            </a:pPr>
            <a:r>
              <a:rPr sz="2000" b="1" dirty="0">
                <a:latin typeface="Times New Roman" panose="02020603050405020304" pitchFamily="18" charset="0"/>
              </a:rPr>
              <a:t>Centenary Colony(Po), Pannur(Vill), Ramagiri(Mdl), Peddapalli, Telangana - 505212, India</a:t>
            </a:r>
          </a:p>
        </p:txBody>
      </p:sp>
      <p:sp>
        <p:nvSpPr>
          <p:cNvPr id="1029" name="Rectangle 4"/>
          <p:cNvSpPr/>
          <p:nvPr/>
        </p:nvSpPr>
        <p:spPr>
          <a:xfrm>
            <a:off x="2431371" y="3655855"/>
            <a:ext cx="6738938" cy="1770063"/>
          </a:xfrm>
          <a:prstGeom prst="rect">
            <a:avLst/>
          </a:prstGeom>
          <a:noFill/>
          <a:ln w="9525">
            <a:noFill/>
          </a:ln>
        </p:spPr>
        <p:txBody>
          <a:bodyPr lIns="0" tIns="0" rIns="0" bIns="0"/>
          <a:lstStyle/>
          <a:p>
            <a:pPr algn="ctr" eaLnBrk="1" hangingPunct="1">
              <a:spcBef>
                <a:spcPts val="3150"/>
              </a:spcBef>
              <a:spcAft>
                <a:spcPts val="1675"/>
              </a:spcAft>
              <a:buNone/>
            </a:pPr>
            <a:r>
              <a:rPr lang="en-US" sz="2800" b="1" dirty="0">
                <a:solidFill>
                  <a:srgbClr val="7030A0"/>
                </a:solidFill>
                <a:latin typeface="Times New Roman" panose="02020603050405020304" pitchFamily="18" charset="0"/>
              </a:rPr>
              <a:t>SUPERSTORE PROFIT ANALYTICS</a:t>
            </a:r>
            <a:endParaRPr sz="2800" b="1" dirty="0">
              <a:solidFill>
                <a:srgbClr val="7030A0"/>
              </a:solidFill>
              <a:latin typeface="Times New Roman" panose="02020603050405020304" pitchFamily="18" charset="0"/>
            </a:endParaRPr>
          </a:p>
        </p:txBody>
      </p:sp>
      <p:sp>
        <p:nvSpPr>
          <p:cNvPr id="1030" name="Rectangle 5"/>
          <p:cNvSpPr/>
          <p:nvPr/>
        </p:nvSpPr>
        <p:spPr>
          <a:xfrm>
            <a:off x="6755130" y="4656477"/>
            <a:ext cx="4430395" cy="2498385"/>
          </a:xfrm>
          <a:prstGeom prst="rect">
            <a:avLst/>
          </a:prstGeom>
          <a:noFill/>
          <a:ln w="9525">
            <a:noFill/>
          </a:ln>
        </p:spPr>
        <p:txBody>
          <a:bodyPr lIns="0" tIns="0" rIns="0" bIns="0"/>
          <a:lstStyle/>
          <a:p>
            <a:pPr algn="just" eaLnBrk="1" hangingPunct="1">
              <a:spcBef>
                <a:spcPts val="1265"/>
              </a:spcBef>
              <a:spcAft>
                <a:spcPts val="1265"/>
              </a:spcAft>
              <a:buNone/>
            </a:pPr>
            <a:r>
              <a:rPr lang="en-US" sz="2000" b="1" dirty="0">
                <a:latin typeface="Times New Roman" panose="02020603050405020304" pitchFamily="18" charset="0"/>
              </a:rPr>
              <a:t>PRESENTED BY </a:t>
            </a:r>
            <a:r>
              <a:rPr sz="2000" b="1" dirty="0">
                <a:latin typeface="Times New Roman" panose="02020603050405020304" pitchFamily="18" charset="0"/>
              </a:rPr>
              <a:t>:-</a:t>
            </a:r>
          </a:p>
          <a:p>
            <a:pPr algn="just" eaLnBrk="1" hangingPunct="1">
              <a:lnSpc>
                <a:spcPts val="1825"/>
              </a:lnSpc>
              <a:buNone/>
            </a:pPr>
            <a:r>
              <a:rPr lang="en-US" sz="2000" b="1" dirty="0">
                <a:latin typeface="Times New Roman" panose="02020603050405020304" pitchFamily="18" charset="0"/>
              </a:rPr>
              <a:t>         T.SNEHA</a:t>
            </a:r>
            <a:r>
              <a:rPr sz="2000" b="1" dirty="0">
                <a:latin typeface="Times New Roman" panose="02020603050405020304" pitchFamily="18" charset="0"/>
              </a:rPr>
              <a:t>  </a:t>
            </a:r>
            <a:r>
              <a:rPr lang="en-US" sz="2000" b="1" dirty="0">
                <a:latin typeface="Times New Roman" panose="02020603050405020304" pitchFamily="18" charset="0"/>
              </a:rPr>
              <a:t>-  </a:t>
            </a:r>
            <a:r>
              <a:rPr sz="2000" b="1" dirty="0">
                <a:latin typeface="Times New Roman" panose="02020603050405020304" pitchFamily="18" charset="0"/>
              </a:rPr>
              <a:t>22VD1A</a:t>
            </a:r>
            <a:r>
              <a:rPr lang="en-US" sz="2000" b="1" dirty="0">
                <a:latin typeface="Times New Roman" panose="02020603050405020304" pitchFamily="18" charset="0"/>
              </a:rPr>
              <a:t>0552</a:t>
            </a:r>
            <a:endParaRPr sz="2000" b="1" dirty="0">
              <a:latin typeface="Times New Roman" panose="02020603050405020304" pitchFamily="18" charset="0"/>
            </a:endParaRPr>
          </a:p>
          <a:p>
            <a:pPr algn="just" eaLnBrk="1" hangingPunct="1">
              <a:lnSpc>
                <a:spcPts val="1825"/>
              </a:lnSpc>
              <a:buNone/>
            </a:pPr>
            <a:endParaRPr sz="2000" b="1" dirty="0">
              <a:latin typeface="Times New Roman" panose="02020603050405020304" pitchFamily="18" charset="0"/>
            </a:endParaRPr>
          </a:p>
          <a:p>
            <a:pPr algn="just" eaLnBrk="1" hangingPunct="1">
              <a:lnSpc>
                <a:spcPts val="1825"/>
              </a:lnSpc>
              <a:buNone/>
            </a:pPr>
            <a:endParaRPr sz="2000" b="1" dirty="0">
              <a:latin typeface="Times New Roman" panose="02020603050405020304" pitchFamily="18" charset="0"/>
            </a:endParaRPr>
          </a:p>
        </p:txBody>
      </p:sp>
      <p:sp>
        <p:nvSpPr>
          <p:cNvPr id="1032" name="Rectangle 7"/>
          <p:cNvSpPr/>
          <p:nvPr/>
        </p:nvSpPr>
        <p:spPr>
          <a:xfrm>
            <a:off x="9345613" y="6016625"/>
            <a:ext cx="889000" cy="142875"/>
          </a:xfrm>
          <a:prstGeom prst="rect">
            <a:avLst/>
          </a:prstGeom>
          <a:noFill/>
          <a:ln w="9525">
            <a:noFill/>
          </a:ln>
        </p:spPr>
        <p:txBody>
          <a:bodyPr wrap="none" lIns="0" tIns="0" rIns="0" bIns="0"/>
          <a:lstStyle/>
          <a:p>
            <a:pPr eaLnBrk="1" hangingPunct="1">
              <a:buNone/>
            </a:pPr>
            <a:endParaRPr sz="1100" b="1" dirty="0">
              <a:latin typeface="Times New Roman" panose="02020603050405020304" pitchFamily="18" charset="0"/>
            </a:endParaRPr>
          </a:p>
        </p:txBody>
      </p:sp>
      <p:sp>
        <p:nvSpPr>
          <p:cNvPr id="1033" name="Rectangle 8"/>
          <p:cNvSpPr/>
          <p:nvPr/>
        </p:nvSpPr>
        <p:spPr>
          <a:xfrm>
            <a:off x="11185525" y="6467475"/>
            <a:ext cx="95250" cy="134938"/>
          </a:xfrm>
          <a:prstGeom prst="rect">
            <a:avLst/>
          </a:prstGeom>
          <a:noFill/>
          <a:ln w="9525">
            <a:noFill/>
          </a:ln>
        </p:spPr>
        <p:txBody>
          <a:bodyPr wrap="none" lIns="0" tIns="0" rIns="0" bIns="0"/>
          <a:lstStyle/>
          <a:p>
            <a:pPr eaLnBrk="1" hangingPunct="1">
              <a:buNone/>
            </a:pPr>
            <a:r>
              <a:rPr sz="1000" b="1" dirty="0">
                <a:solidFill>
                  <a:srgbClr val="898989"/>
                </a:solidFill>
                <a:latin typeface="Tahoma" panose="020B0604030504040204" pitchFamily="34" charset="0"/>
              </a:rPr>
              <a:t>1</a:t>
            </a:r>
          </a:p>
        </p:txBody>
      </p:sp>
      <p:sp>
        <p:nvSpPr>
          <p:cNvPr id="2" name="TextBox 1">
            <a:extLst>
              <a:ext uri="{FF2B5EF4-FFF2-40B4-BE49-F238E27FC236}">
                <a16:creationId xmlns:a16="http://schemas.microsoft.com/office/drawing/2014/main" id="{070A878D-F7AE-4FBA-9F2C-D72392E73060}"/>
              </a:ext>
            </a:extLst>
          </p:cNvPr>
          <p:cNvSpPr txBox="1"/>
          <p:nvPr/>
        </p:nvSpPr>
        <p:spPr>
          <a:xfrm>
            <a:off x="2939845" y="2729026"/>
            <a:ext cx="6405768" cy="646331"/>
          </a:xfrm>
          <a:prstGeom prst="rect">
            <a:avLst/>
          </a:prstGeom>
          <a:noFill/>
        </p:spPr>
        <p:txBody>
          <a:bodyPr wrap="square" rtlCol="0">
            <a:spAutoFit/>
          </a:bodyPr>
          <a:lstStyle/>
          <a:p>
            <a:r>
              <a:rPr lang="en-US" sz="3600" b="1" dirty="0">
                <a:solidFill>
                  <a:srgbClr val="FF0000"/>
                </a:solidFill>
                <a:latin typeface="Times New Roman" panose="02020603050405020304" pitchFamily="18" charset="0"/>
                <a:cs typeface="Times New Roman" panose="02020603050405020304" pitchFamily="18" charset="0"/>
              </a:rPr>
              <a:t>TCS INDUSTRIAL PROJECT</a:t>
            </a:r>
            <a:endParaRPr lang="en-IN" sz="3600" b="1" dirty="0">
              <a:solidFill>
                <a:srgbClr val="FF0000"/>
              </a:solidFill>
              <a:latin typeface="Times New Roman" panose="02020603050405020304" pitchFamily="18"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1534885" y="206829"/>
            <a:ext cx="4898571" cy="6128658"/>
          </a:xfrm>
          <a:prstGeom prst="rect">
            <a:avLst/>
          </a:prstGeom>
        </p:spPr>
        <p:txBody>
          <a:bodyPr lIns="0" tIns="0" rIns="0" bIns="0">
            <a:noAutofit/>
          </a:bodyPr>
          <a:lstStyle/>
          <a:p>
            <a:pPr eaLnBrk="1" hangingPunct="1">
              <a:spcAft>
                <a:spcPts val="1050"/>
              </a:spcAft>
              <a:buNone/>
            </a:pPr>
            <a:r>
              <a:rPr sz="3200" b="1" dirty="0">
                <a:solidFill>
                  <a:srgbClr val="FF0000"/>
                </a:solidFill>
                <a:latin typeface="Times New Roman" panose="02020603050405020304" pitchFamily="18" charset="0"/>
              </a:rPr>
              <a:t>Contents</a:t>
            </a:r>
          </a:p>
          <a:p>
            <a:pPr marL="342900" indent="-342900" eaLnBrk="1" hangingPunct="1">
              <a:lnSpc>
                <a:spcPts val="4540"/>
              </a:lnSpc>
              <a:buFont typeface="Wingdings" panose="05000000000000000000" charset="0"/>
              <a:buChar char="Ø"/>
            </a:pPr>
            <a:r>
              <a:rPr sz="2400" dirty="0">
                <a:latin typeface="Times New Roman" panose="02020603050405020304" pitchFamily="18" charset="0"/>
              </a:rPr>
              <a:t>Introduction </a:t>
            </a:r>
            <a:endParaRPr lang="en-US" sz="2400" dirty="0">
              <a:latin typeface="Times New Roman" panose="02020603050405020304" pitchFamily="18" charset="0"/>
            </a:endParaRPr>
          </a:p>
          <a:p>
            <a:pPr marL="342900" indent="-342900" eaLnBrk="1" hangingPunct="1">
              <a:lnSpc>
                <a:spcPts val="4540"/>
              </a:lnSpc>
              <a:buFont typeface="Wingdings" panose="05000000000000000000" charset="0"/>
              <a:buChar char="Ø"/>
            </a:pPr>
            <a:r>
              <a:rPr lang="en-US" sz="2400" dirty="0">
                <a:latin typeface="Times New Roman" panose="02020603050405020304" pitchFamily="18" charset="0"/>
              </a:rPr>
              <a:t>Existing system</a:t>
            </a:r>
          </a:p>
          <a:p>
            <a:pPr marL="342900" indent="-342900" eaLnBrk="1" hangingPunct="1">
              <a:lnSpc>
                <a:spcPts val="4540"/>
              </a:lnSpc>
              <a:buFont typeface="Wingdings" panose="05000000000000000000" charset="0"/>
              <a:buChar char="Ø"/>
            </a:pPr>
            <a:r>
              <a:rPr lang="en-US" sz="2400" dirty="0">
                <a:latin typeface="Times New Roman" panose="02020603050405020304" pitchFamily="18" charset="0"/>
              </a:rPr>
              <a:t>Limitations of Existing system</a:t>
            </a:r>
            <a:endParaRPr sz="2400" dirty="0">
              <a:latin typeface="Times New Roman" panose="02020603050405020304" pitchFamily="18" charset="0"/>
            </a:endParaRPr>
          </a:p>
          <a:p>
            <a:pPr marL="342900" indent="-342900" eaLnBrk="1" hangingPunct="1">
              <a:lnSpc>
                <a:spcPts val="4540"/>
              </a:lnSpc>
              <a:buFont typeface="Wingdings" panose="05000000000000000000" charset="0"/>
              <a:buChar char="Ø"/>
            </a:pPr>
            <a:r>
              <a:rPr sz="2400" dirty="0">
                <a:latin typeface="Times New Roman" panose="02020603050405020304" pitchFamily="18" charset="0"/>
              </a:rPr>
              <a:t> Problem Statement</a:t>
            </a:r>
            <a:endParaRPr lang="en-US" sz="2400" dirty="0">
              <a:latin typeface="Times New Roman" panose="02020603050405020304" pitchFamily="18" charset="0"/>
            </a:endParaRPr>
          </a:p>
          <a:p>
            <a:pPr marL="342900" indent="-342900" eaLnBrk="1" hangingPunct="1">
              <a:lnSpc>
                <a:spcPts val="4540"/>
              </a:lnSpc>
              <a:buFont typeface="Wingdings" panose="05000000000000000000" charset="0"/>
              <a:buChar char="Ø"/>
            </a:pPr>
            <a:r>
              <a:rPr lang="en-US" sz="2400" dirty="0">
                <a:latin typeface="Times New Roman" panose="02020603050405020304" pitchFamily="18" charset="0"/>
              </a:rPr>
              <a:t>Proposed system</a:t>
            </a:r>
            <a:endParaRPr sz="2400" dirty="0">
              <a:latin typeface="Times New Roman" panose="02020603050405020304" pitchFamily="18" charset="0"/>
            </a:endParaRPr>
          </a:p>
          <a:p>
            <a:pPr marL="342900" indent="-342900" eaLnBrk="1" hangingPunct="1">
              <a:lnSpc>
                <a:spcPts val="4540"/>
              </a:lnSpc>
              <a:buFont typeface="Wingdings" panose="05000000000000000000" charset="0"/>
              <a:buChar char="Ø"/>
            </a:pPr>
            <a:r>
              <a:rPr sz="2400" dirty="0">
                <a:latin typeface="Times New Roman" panose="02020603050405020304" pitchFamily="18" charset="0"/>
              </a:rPr>
              <a:t>System Requirement Specificatio</a:t>
            </a:r>
            <a:r>
              <a:rPr lang="en-US" sz="2400" dirty="0">
                <a:latin typeface="Times New Roman" panose="02020603050405020304" pitchFamily="18" charset="0"/>
              </a:rPr>
              <a:t>n</a:t>
            </a:r>
          </a:p>
          <a:p>
            <a:pPr marL="342900" indent="-342900" eaLnBrk="1" hangingPunct="1">
              <a:lnSpc>
                <a:spcPts val="4540"/>
              </a:lnSpc>
              <a:buFont typeface="Wingdings" panose="05000000000000000000" charset="0"/>
              <a:buChar char="Ø"/>
            </a:pPr>
            <a:r>
              <a:rPr sz="2400" dirty="0">
                <a:latin typeface="Times New Roman" panose="02020603050405020304" pitchFamily="18" charset="0"/>
              </a:rPr>
              <a:t>System Design </a:t>
            </a:r>
          </a:p>
          <a:p>
            <a:pPr marL="342900" indent="-342900" eaLnBrk="1" hangingPunct="1">
              <a:lnSpc>
                <a:spcPts val="4540"/>
              </a:lnSpc>
              <a:buFont typeface="Wingdings" panose="05000000000000000000" charset="0"/>
              <a:buChar char="Ø"/>
            </a:pPr>
            <a:r>
              <a:rPr sz="2400" dirty="0">
                <a:latin typeface="Times New Roman" panose="02020603050405020304" pitchFamily="18" charset="0"/>
              </a:rPr>
              <a:t> Implementation </a:t>
            </a:r>
          </a:p>
          <a:p>
            <a:pPr marL="342900" indent="-342900" eaLnBrk="1" hangingPunct="1">
              <a:lnSpc>
                <a:spcPts val="4540"/>
              </a:lnSpc>
              <a:buFont typeface="Wingdings" panose="05000000000000000000" charset="0"/>
              <a:buChar char="Ø"/>
            </a:pPr>
            <a:r>
              <a:rPr sz="2400" dirty="0">
                <a:latin typeface="Times New Roman" panose="02020603050405020304" pitchFamily="18" charset="0"/>
              </a:rPr>
              <a:t>Accuracy </a:t>
            </a:r>
          </a:p>
          <a:p>
            <a:pPr marL="342900" indent="-342900" eaLnBrk="1" hangingPunct="1">
              <a:lnSpc>
                <a:spcPts val="4540"/>
              </a:lnSpc>
              <a:buFont typeface="Wingdings" panose="05000000000000000000" charset="0"/>
              <a:buChar char="Ø"/>
            </a:pPr>
            <a:r>
              <a:rPr sz="2400" dirty="0">
                <a:latin typeface="Times New Roman" panose="02020603050405020304" pitchFamily="18" charset="0"/>
              </a:rPr>
              <a:t>Conclusion</a:t>
            </a:r>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8" name="Rectangle 1"/>
          <p:cNvSpPr/>
          <p:nvPr/>
        </p:nvSpPr>
        <p:spPr>
          <a:xfrm>
            <a:off x="914400" y="877887"/>
            <a:ext cx="2770188" cy="387350"/>
          </a:xfrm>
          <a:prstGeom prst="rect">
            <a:avLst/>
          </a:prstGeom>
          <a:noFill/>
          <a:ln w="9525">
            <a:noFill/>
          </a:ln>
        </p:spPr>
        <p:txBody>
          <a:bodyPr wrap="none" lIns="0" tIns="0" rIns="0" bIns="0"/>
          <a:lstStyle/>
          <a:p>
            <a:pPr eaLnBrk="1" hangingPunct="1">
              <a:spcAft>
                <a:spcPts val="5875"/>
              </a:spcAft>
              <a:buNone/>
            </a:pPr>
            <a:r>
              <a:rPr sz="4000" b="1" dirty="0">
                <a:solidFill>
                  <a:srgbClr val="FF0000"/>
                </a:solidFill>
                <a:latin typeface="Times New Roman" panose="02020603050405020304" pitchFamily="18" charset="0"/>
              </a:rPr>
              <a:t>Introduction</a:t>
            </a:r>
          </a:p>
        </p:txBody>
      </p:sp>
      <p:sp>
        <p:nvSpPr>
          <p:cNvPr id="4099" name="Rectangle 2"/>
          <p:cNvSpPr/>
          <p:nvPr/>
        </p:nvSpPr>
        <p:spPr>
          <a:xfrm>
            <a:off x="615950" y="1885950"/>
            <a:ext cx="10826750" cy="4160520"/>
          </a:xfrm>
          <a:prstGeom prst="rect">
            <a:avLst/>
          </a:prstGeom>
          <a:noFill/>
          <a:ln w="9525">
            <a:noFill/>
          </a:ln>
        </p:spPr>
        <p:txBody>
          <a:bodyPr lIns="0" tIns="0" rIns="0" bIns="0"/>
          <a:lstStyle/>
          <a:p>
            <a:pPr eaLnBrk="1" hangingPunct="1">
              <a:lnSpc>
                <a:spcPts val="5015"/>
              </a:lnSpc>
              <a:spcBef>
                <a:spcPts val="5875"/>
              </a:spcBef>
              <a:spcAft>
                <a:spcPts val="1475"/>
              </a:spcAft>
              <a:buNone/>
            </a:pPr>
            <a:endParaRPr sz="2200" dirty="0">
              <a:solidFill>
                <a:srgbClr val="3B3938"/>
              </a:solidFill>
              <a:latin typeface="Times New Roman" panose="02020603050405020304" pitchFamily="18" charset="0"/>
            </a:endParaRPr>
          </a:p>
        </p:txBody>
      </p:sp>
      <p:sp>
        <p:nvSpPr>
          <p:cNvPr id="4" name="Rectangle 3"/>
          <p:cNvSpPr/>
          <p:nvPr/>
        </p:nvSpPr>
        <p:spPr>
          <a:xfrm>
            <a:off x="695325" y="3989388"/>
            <a:ext cx="10871200" cy="1603375"/>
          </a:xfrm>
          <a:prstGeom prst="rect">
            <a:avLst/>
          </a:prstGeom>
        </p:spPr>
        <p:txBody>
          <a:bodyPr lIns="0" tIns="0" rIns="0" bIns="0">
            <a:noAutofit/>
          </a:bodyPr>
          <a:lstStyle/>
          <a:p>
            <a:pPr marL="0" marR="0" lvl="0" indent="0" algn="l" defTabSz="914400" rtl="0" eaLnBrk="1" fontAlgn="auto" latinLnBrk="0" hangingPunct="1">
              <a:lnSpc>
                <a:spcPts val="5065"/>
              </a:lnSpc>
              <a:spcBef>
                <a:spcPts val="1470"/>
              </a:spcBef>
              <a:spcAft>
                <a:spcPts val="0"/>
              </a:spcAft>
              <a:buClrTx/>
              <a:buSzTx/>
              <a:buFontTx/>
              <a:buNone/>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a:ea typeface="+mn-ea"/>
              <a:cs typeface="+mn-cs"/>
            </a:endParaRPr>
          </a:p>
        </p:txBody>
      </p:sp>
      <p:sp>
        <p:nvSpPr>
          <p:cNvPr id="2" name="TextBox 1">
            <a:extLst>
              <a:ext uri="{FF2B5EF4-FFF2-40B4-BE49-F238E27FC236}">
                <a16:creationId xmlns:a16="http://schemas.microsoft.com/office/drawing/2014/main" id="{54ACC19F-2435-4E23-8921-C66867BB24AF}"/>
              </a:ext>
            </a:extLst>
          </p:cNvPr>
          <p:cNvSpPr txBox="1"/>
          <p:nvPr/>
        </p:nvSpPr>
        <p:spPr>
          <a:xfrm>
            <a:off x="914400" y="2012187"/>
            <a:ext cx="9383485" cy="3349956"/>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sz="2400" dirty="0">
                <a:solidFill>
                  <a:schemeClr val="tx1">
                    <a:lumMod val="75000"/>
                    <a:lumOff val="25000"/>
                  </a:schemeClr>
                </a:solidFill>
                <a:latin typeface="Times New Roman" panose="02020603050405020304" pitchFamily="18" charset="0"/>
                <a:cs typeface="Times New Roman" panose="02020603050405020304" pitchFamily="18" charset="0"/>
              </a:rPr>
              <a:t>Retail businesses generate large volumes of transactional data.</a:t>
            </a:r>
          </a:p>
          <a:p>
            <a:pPr marL="342900" indent="-342900">
              <a:lnSpc>
                <a:spcPct val="150000"/>
              </a:lnSpc>
              <a:buFont typeface="Wingdings" panose="05000000000000000000" pitchFamily="2" charset="2"/>
              <a:buChar char="Ø"/>
            </a:pPr>
            <a:r>
              <a:rPr lang="en-US" sz="2400" dirty="0">
                <a:solidFill>
                  <a:schemeClr val="tx1">
                    <a:lumMod val="75000"/>
                    <a:lumOff val="25000"/>
                  </a:schemeClr>
                </a:solidFill>
                <a:latin typeface="Times New Roman" panose="02020603050405020304" pitchFamily="18" charset="0"/>
                <a:cs typeface="Times New Roman" panose="02020603050405020304" pitchFamily="18" charset="0"/>
              </a:rPr>
              <a:t>Analyzing this data allows businesses to make informed decisions regarding inventory, customer preferences, and sales strategies.</a:t>
            </a:r>
          </a:p>
          <a:p>
            <a:pPr marL="342900" indent="-342900">
              <a:lnSpc>
                <a:spcPct val="150000"/>
              </a:lnSpc>
              <a:buFont typeface="Wingdings" panose="05000000000000000000" pitchFamily="2" charset="2"/>
              <a:buChar char="Ø"/>
            </a:pPr>
            <a:r>
              <a:rPr lang="en-US" sz="2400" dirty="0">
                <a:solidFill>
                  <a:schemeClr val="tx1">
                    <a:lumMod val="75000"/>
                    <a:lumOff val="25000"/>
                  </a:schemeClr>
                </a:solidFill>
                <a:latin typeface="Times New Roman" panose="02020603050405020304" pitchFamily="18" charset="0"/>
                <a:cs typeface="Times New Roman" panose="02020603050405020304" pitchFamily="18" charset="0"/>
              </a:rPr>
              <a:t>This project focuses on analyzing the Superstore dataset to uncover insights on sales trends, profit margins, regional performance, and customer behavior using Python and Tableau.</a:t>
            </a:r>
            <a:endParaRPr lang="en-IN" sz="24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09600" y="506639"/>
            <a:ext cx="10972800" cy="4792663"/>
          </a:xfrm>
          <a:prstGeom prst="rect">
            <a:avLst/>
          </a:prstGeom>
        </p:spPr>
        <p:txBody>
          <a:bodyPr lIns="0" tIns="0" rIns="0" bIns="0">
            <a:noAutofit/>
          </a:bodyPr>
          <a:lstStyle/>
          <a:p>
            <a:pPr algn="just"/>
            <a:r>
              <a:rPr lang="en-US" sz="3200" b="1" dirty="0">
                <a:solidFill>
                  <a:srgbClr val="FF0000"/>
                </a:solidFill>
                <a:latin typeface="Times New Roman" panose="02020603050405020304" pitchFamily="18" charset="0"/>
                <a:cs typeface="Times New Roman" panose="02020603050405020304" pitchFamily="18" charset="0"/>
              </a:rPr>
              <a:t>Scope of the Project</a:t>
            </a:r>
          </a:p>
          <a:p>
            <a:pPr algn="just">
              <a:lnSpc>
                <a:spcPct val="150000"/>
              </a:lnSpc>
            </a:pPr>
            <a:r>
              <a:rPr lang="en-US" sz="2000" dirty="0">
                <a:latin typeface="Times New Roman" panose="02020603050405020304" pitchFamily="18" charset="0"/>
                <a:cs typeface="Times New Roman" panose="02020603050405020304" pitchFamily="18" charset="0"/>
              </a:rPr>
              <a:t>This project aims to provide a comprehensive analysis of retail sales data from the Superstore dataset to support strategic business decisions. </a:t>
            </a:r>
          </a:p>
          <a:p>
            <a:pPr algn="just">
              <a:lnSpc>
                <a:spcPct val="150000"/>
              </a:lnSpc>
            </a:pPr>
            <a:r>
              <a:rPr lang="en-US" sz="2000" b="1" dirty="0">
                <a:latin typeface="Times New Roman" panose="02020603050405020304" pitchFamily="18" charset="0"/>
                <a:cs typeface="Times New Roman" panose="02020603050405020304" pitchFamily="18" charset="0"/>
              </a:rPr>
              <a:t>Data Preparation</a:t>
            </a:r>
            <a:r>
              <a:rPr lang="en-US" sz="2000" dirty="0">
                <a:latin typeface="Times New Roman" panose="02020603050405020304" pitchFamily="18" charset="0"/>
                <a:cs typeface="Times New Roman" panose="02020603050405020304" pitchFamily="18" charset="0"/>
              </a:rPr>
              <a:t>: Cleaning and transforming raw CSV data for analysis.</a:t>
            </a:r>
          </a:p>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Sales &amp; Profit Analysis</a:t>
            </a:r>
            <a:r>
              <a:rPr lang="en-US" sz="2000" dirty="0">
                <a:latin typeface="Times New Roman" panose="02020603050405020304" pitchFamily="18" charset="0"/>
                <a:cs typeface="Times New Roman" panose="02020603050405020304" pitchFamily="18" charset="0"/>
              </a:rPr>
              <a:t>: Identifying top-performing regions, categories, and customers using Python.</a:t>
            </a:r>
          </a:p>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Customer Segmentation</a:t>
            </a:r>
            <a:r>
              <a:rPr lang="en-US" sz="2000" dirty="0">
                <a:latin typeface="Times New Roman" panose="02020603050405020304" pitchFamily="18" charset="0"/>
                <a:cs typeface="Times New Roman" panose="02020603050405020304" pitchFamily="18" charset="0"/>
              </a:rPr>
              <a:t>: Analyzing customer types and purchase patterns to uncover loyalty and spending behavior.</a:t>
            </a:r>
          </a:p>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Data Visualization</a:t>
            </a:r>
            <a:r>
              <a:rPr lang="en-US" sz="2000" dirty="0">
                <a:latin typeface="Times New Roman" panose="02020603050405020304" pitchFamily="18" charset="0"/>
                <a:cs typeface="Times New Roman" panose="02020603050405020304" pitchFamily="18" charset="0"/>
              </a:rPr>
              <a:t>: Creating charts and optional interactive dashboards for stakeholders using Matplotlib/Seaborn and Tableau.</a:t>
            </a:r>
          </a:p>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Business Recommendations</a:t>
            </a:r>
            <a:r>
              <a:rPr lang="en-US" sz="2000" dirty="0">
                <a:latin typeface="Times New Roman" panose="02020603050405020304" pitchFamily="18" charset="0"/>
                <a:cs typeface="Times New Roman" panose="02020603050405020304" pitchFamily="18" charset="0"/>
              </a:rPr>
              <a:t>: Delivering actionable strategies based on insights from the data.</a:t>
            </a:r>
          </a:p>
        </p:txBody>
      </p:sp>
      <p:sp>
        <p:nvSpPr>
          <p:cNvPr id="3" name="Rectangle 2"/>
          <p:cNvSpPr/>
          <p:nvPr/>
        </p:nvSpPr>
        <p:spPr>
          <a:xfrm>
            <a:off x="12142788" y="6229350"/>
            <a:ext cx="49213" cy="85725"/>
          </a:xfrm>
          <a:prstGeom prst="rect">
            <a:avLst/>
          </a:prstGeom>
        </p:spPr>
        <p:txBody>
          <a:bodyPr wrap="none" lIns="0" tIns="0" rIns="0" bIns="0">
            <a:no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sz="650" b="0" i="0" u="none" strike="noStrike" kern="1200" cap="none" spc="0" normalizeH="0" baseline="0" noProof="0">
                <a:ln>
                  <a:noFill/>
                </a:ln>
                <a:solidFill>
                  <a:srgbClr val="898989"/>
                </a:solidFill>
                <a:effectLst/>
                <a:uLnTx/>
                <a:uFillTx/>
                <a:latin typeface="Cambria" panose="02040503050406030204"/>
                <a:ea typeface="+mn-ea"/>
                <a:cs typeface="+mn-cs"/>
              </a:rPr>
              <a:t>c</a:t>
            </a:r>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686A03-51B0-4B7A-8AB5-1DFD295B563B}"/>
              </a:ext>
            </a:extLst>
          </p:cNvPr>
          <p:cNvSpPr txBox="1"/>
          <p:nvPr/>
        </p:nvSpPr>
        <p:spPr>
          <a:xfrm>
            <a:off x="794657" y="217714"/>
            <a:ext cx="10602685" cy="6555641"/>
          </a:xfrm>
          <a:prstGeom prst="rect">
            <a:avLst/>
          </a:prstGeom>
          <a:noFill/>
        </p:spPr>
        <p:txBody>
          <a:bodyPr wrap="square" rtlCol="0">
            <a:spAutoFit/>
          </a:bodyPr>
          <a:lstStyle/>
          <a:p>
            <a:r>
              <a:rPr lang="en-US" sz="3200" b="1" dirty="0">
                <a:solidFill>
                  <a:srgbClr val="FF0000"/>
                </a:solidFill>
                <a:latin typeface="Times New Roman" panose="02020603050405020304" pitchFamily="18" charset="0"/>
                <a:cs typeface="Times New Roman" panose="02020603050405020304" pitchFamily="18" charset="0"/>
              </a:rPr>
              <a:t>Existing System:-</a:t>
            </a:r>
            <a:endParaRPr lang="en-US" sz="2800" b="1" dirty="0">
              <a:solidFill>
                <a:schemeClr val="accent6">
                  <a:lumMod val="75000"/>
                </a:schemeClr>
              </a:solidFill>
              <a:latin typeface="Times New Roman" panose="02020603050405020304" pitchFamily="18" charset="0"/>
              <a:cs typeface="Times New Roman" panose="02020603050405020304" pitchFamily="18" charset="0"/>
            </a:endParaRPr>
          </a:p>
          <a:p>
            <a:pPr marL="800100" lvl="1"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 the existing retail setup, reports are often generated manually or through basic spreadsheet summaries. </a:t>
            </a:r>
          </a:p>
          <a:p>
            <a:pPr marL="800100" lvl="1"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This process lacks interactivity, scalability, and in-depth insights. Data is scattered across different tools without integration for comprehensive analysis.</a:t>
            </a:r>
          </a:p>
          <a:p>
            <a:pPr lvl="1">
              <a:lnSpc>
                <a:spcPct val="150000"/>
              </a:lnSpc>
            </a:pPr>
            <a:endParaRPr lang="en-US" sz="2000" dirty="0">
              <a:latin typeface="Times New Roman" panose="02020603050405020304" pitchFamily="18" charset="0"/>
              <a:cs typeface="Times New Roman" panose="02020603050405020304" pitchFamily="18" charset="0"/>
            </a:endParaRPr>
          </a:p>
          <a:p>
            <a:r>
              <a:rPr lang="en-US" sz="3200" b="1" dirty="0">
                <a:solidFill>
                  <a:srgbClr val="FF0000"/>
                </a:solidFill>
                <a:latin typeface="Times New Roman" panose="02020603050405020304" pitchFamily="18" charset="0"/>
                <a:cs typeface="Times New Roman" panose="02020603050405020304" pitchFamily="18" charset="0"/>
              </a:rPr>
              <a:t>Limitations of Existing System:-</a:t>
            </a:r>
          </a:p>
          <a:p>
            <a:pPr marL="800100" lvl="1"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Limited Automation: Manual report generation is time-consuming and error-prone.</a:t>
            </a:r>
          </a:p>
          <a:p>
            <a:pPr marL="800100" lvl="1"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Lack of Visualization: No clear visual representation of trends or performance metrics.</a:t>
            </a:r>
          </a:p>
          <a:p>
            <a:pPr marL="800100" lvl="1"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Poor Data Utilization: Large volumes of data go underutilized due to lack of analytics.</a:t>
            </a:r>
          </a:p>
          <a:p>
            <a:pPr marL="800100" lvl="1"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No Predictive Capability: Cannot identify future trends or high-performing regions/customers.</a:t>
            </a:r>
            <a:br>
              <a:rPr lang="en-US" sz="2000" dirty="0"/>
            </a:br>
            <a:endParaRPr lang="en-US" sz="2000" dirty="0"/>
          </a:p>
          <a:p>
            <a:br>
              <a:rPr lang="en-US" sz="2800" dirty="0"/>
            </a:br>
            <a:endParaRPr lang="en-IN" sz="2800" b="1" dirty="0">
              <a:solidFill>
                <a:schemeClr val="accent6">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26377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
          <p:cNvSpPr/>
          <p:nvPr/>
        </p:nvSpPr>
        <p:spPr>
          <a:xfrm>
            <a:off x="580118" y="698089"/>
            <a:ext cx="10697482" cy="5629685"/>
          </a:xfrm>
          <a:prstGeom prst="rect">
            <a:avLst/>
          </a:prstGeom>
        </p:spPr>
        <p:txBody>
          <a:bodyPr lIns="0" tIns="0" rIns="0" bIns="0">
            <a:noAutofit/>
          </a:bodyPr>
          <a:lstStyle/>
          <a:p>
            <a:pPr marL="0" marR="0" lvl="0" indent="0" algn="l" defTabSz="914400" rtl="0" eaLnBrk="1" fontAlgn="auto" latinLnBrk="0" hangingPunct="1">
              <a:lnSpc>
                <a:spcPct val="100000"/>
              </a:lnSpc>
              <a:spcBef>
                <a:spcPts val="4830"/>
              </a:spcBef>
              <a:spcAft>
                <a:spcPts val="2520"/>
              </a:spcAft>
              <a:buClrTx/>
              <a:buSzTx/>
              <a:buFontTx/>
              <a:buNone/>
              <a:defRPr/>
            </a:pPr>
            <a:r>
              <a:rPr kumimoji="0" lang="en-US" sz="3200" b="1" i="0" u="none" strike="noStrike" kern="1200" cap="none" spc="0" normalizeH="0" baseline="0" noProof="0" dirty="0">
                <a:ln>
                  <a:noFill/>
                </a:ln>
                <a:solidFill>
                  <a:srgbClr val="FF0000"/>
                </a:solidFill>
                <a:effectLst/>
                <a:uLnTx/>
                <a:uFillTx/>
                <a:latin typeface="Times New Roman" panose="02020603050405020304"/>
                <a:ea typeface="+mn-ea"/>
                <a:cs typeface="+mn-cs"/>
              </a:rPr>
              <a:t>Problem Statement</a:t>
            </a:r>
          </a:p>
          <a:p>
            <a:pPr marL="571500" indent="-571500" algn="just" eaLnBrk="1" fontAlgn="auto" hangingPunct="1">
              <a:lnSpc>
                <a:spcPct val="150000"/>
              </a:lnSpc>
              <a:spcBef>
                <a:spcPts val="0"/>
              </a:spcBef>
              <a:spcAft>
                <a:spcPts val="0"/>
              </a:spcAft>
              <a:defRPr/>
            </a:pPr>
            <a:r>
              <a:rPr lang="en-US" sz="2400" dirty="0">
                <a:latin typeface="Times New Roman" panose="02020603050405020304"/>
              </a:rPr>
              <a:t>               </a:t>
            </a:r>
            <a:r>
              <a:rPr lang="en-US" sz="2000" dirty="0">
                <a:latin typeface="Times New Roman" panose="02020603050405020304"/>
              </a:rPr>
              <a:t>Retail businesses often generate large volumes of transactional data but struggle to derive meaningful insights due to the lack of integrated analytical tools and process. The absence of automated systems for analyzing sales, profit margins, regional performance, and customer behavior limits a company’s ability to make informed, data-driven decisions.</a:t>
            </a:r>
          </a:p>
          <a:p>
            <a:pPr marL="571500" indent="-571500" algn="just" eaLnBrk="1" fontAlgn="auto" hangingPunct="1">
              <a:lnSpc>
                <a:spcPct val="150000"/>
              </a:lnSpc>
              <a:spcBef>
                <a:spcPts val="0"/>
              </a:spcBef>
              <a:spcAft>
                <a:spcPts val="0"/>
              </a:spcAft>
              <a:defRPr/>
            </a:pPr>
            <a:r>
              <a:rPr lang="en-US" sz="2000" dirty="0">
                <a:latin typeface="Times New Roman" panose="02020603050405020304"/>
              </a:rPr>
              <a:t>       	                  The core problem is the inefficient use of sales data leading to missed opportunities in market targeting, product optimization, discount strategies, and customer retention.</a:t>
            </a:r>
          </a:p>
        </p:txBody>
      </p:sp>
      <p:sp>
        <p:nvSpPr>
          <p:cNvPr id="4" name="Rectangle 3"/>
          <p:cNvSpPr/>
          <p:nvPr/>
        </p:nvSpPr>
        <p:spPr>
          <a:xfrm>
            <a:off x="12136438" y="6229350"/>
            <a:ext cx="55563" cy="98425"/>
          </a:xfrm>
          <a:prstGeom prst="rect">
            <a:avLst/>
          </a:prstGeom>
        </p:spPr>
        <p:txBody>
          <a:bodyPr wrap="none"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650" b="0" i="0" u="none" strike="noStrike" kern="1200" cap="none" spc="0" normalizeH="0" baseline="0" noProof="0">
                <a:ln>
                  <a:noFill/>
                </a:ln>
                <a:solidFill>
                  <a:srgbClr val="898989"/>
                </a:solidFill>
                <a:effectLst/>
                <a:uLnTx/>
                <a:uFillTx/>
                <a:latin typeface="Cambria" panose="02040503050406030204"/>
                <a:ea typeface="+mn-ea"/>
                <a:cs typeface="+mn-cs"/>
              </a:rPr>
              <a:t>C</a:t>
            </a:r>
          </a:p>
        </p:txBody>
      </p:sp>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50CC78A-6216-4266-B7DA-9BE364F73A2A}"/>
              </a:ext>
            </a:extLst>
          </p:cNvPr>
          <p:cNvSpPr txBox="1"/>
          <p:nvPr/>
        </p:nvSpPr>
        <p:spPr>
          <a:xfrm>
            <a:off x="772886" y="827314"/>
            <a:ext cx="10047514" cy="4653646"/>
          </a:xfrm>
          <a:prstGeom prst="rect">
            <a:avLst/>
          </a:prstGeom>
          <a:noFill/>
        </p:spPr>
        <p:txBody>
          <a:bodyPr wrap="square" rtlCol="0">
            <a:spAutoFit/>
          </a:bodyPr>
          <a:lstStyle/>
          <a:p>
            <a:r>
              <a:rPr lang="en-US" sz="3200" b="1" dirty="0">
                <a:solidFill>
                  <a:srgbClr val="FF0000"/>
                </a:solidFill>
                <a:latin typeface="Times New Roman" panose="02020603050405020304" pitchFamily="18" charset="0"/>
                <a:cs typeface="Times New Roman" panose="02020603050405020304" pitchFamily="18" charset="0"/>
              </a:rPr>
              <a:t>Proposed System:-</a:t>
            </a:r>
          </a:p>
          <a:p>
            <a:endParaRPr lang="en-US" sz="2800" b="1" dirty="0">
              <a:solidFill>
                <a:schemeClr val="accent6">
                  <a:lumMod val="75000"/>
                </a:schemeClr>
              </a:solidFill>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proposed system is a data-driven analytics framework designed to process, analyze, and visualize retail sales data for improved business decision-making. It addresses the inefficiencies of manual reporting by implementing an automated, structured workflow. </a:t>
            </a:r>
          </a:p>
          <a:p>
            <a:pPr algn="just">
              <a:lnSpc>
                <a:spcPct val="150000"/>
              </a:lnSpc>
            </a:pPr>
            <a:endParaRPr lang="en-US"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system ultimately delivers actionable insights into product category performance, discount impact, and top customer behavior. Designed for scalability and reproducibility, the solution empowers businesses to transition from reactive decisions to proactive, insight-driven strategies using modern business intelligence techniques.</a:t>
            </a:r>
          </a:p>
        </p:txBody>
      </p:sp>
    </p:spTree>
    <p:extLst>
      <p:ext uri="{BB962C8B-B14F-4D97-AF65-F5344CB8AC3E}">
        <p14:creationId xmlns:p14="http://schemas.microsoft.com/office/powerpoint/2010/main" val="5282539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1"/>
          <p:cNvSpPr/>
          <p:nvPr/>
        </p:nvSpPr>
        <p:spPr>
          <a:xfrm>
            <a:off x="952046" y="509134"/>
            <a:ext cx="7435850" cy="490537"/>
          </a:xfrm>
          <a:prstGeom prst="rect">
            <a:avLst/>
          </a:prstGeom>
          <a:noFill/>
          <a:ln w="9525">
            <a:noFill/>
          </a:ln>
        </p:spPr>
        <p:txBody>
          <a:bodyPr wrap="none" lIns="0" tIns="0" rIns="0" bIns="0"/>
          <a:lstStyle/>
          <a:p>
            <a:pPr eaLnBrk="1" hangingPunct="1">
              <a:buNone/>
            </a:pPr>
            <a:r>
              <a:rPr sz="3200" b="1" dirty="0">
                <a:solidFill>
                  <a:srgbClr val="FF0000"/>
                </a:solidFill>
                <a:latin typeface="Times New Roman" panose="02020603050405020304" pitchFamily="18" charset="0"/>
              </a:rPr>
              <a:t>System Requirement Specification</a:t>
            </a:r>
          </a:p>
        </p:txBody>
      </p:sp>
      <p:sp>
        <p:nvSpPr>
          <p:cNvPr id="4" name="Rectangle 3"/>
          <p:cNvSpPr/>
          <p:nvPr/>
        </p:nvSpPr>
        <p:spPr>
          <a:xfrm>
            <a:off x="12066588" y="6229350"/>
            <a:ext cx="125413" cy="134938"/>
          </a:xfrm>
          <a:prstGeom prst="rect">
            <a:avLst/>
          </a:prstGeom>
        </p:spPr>
        <p:txBody>
          <a:bodyPr wrap="none"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950" b="0" i="1" u="none" strike="noStrike" kern="1200" cap="none" spc="0" normalizeH="0" baseline="0" noProof="0">
                <a:ln>
                  <a:noFill/>
                </a:ln>
                <a:solidFill>
                  <a:srgbClr val="898989"/>
                </a:solidFill>
                <a:effectLst/>
                <a:uLnTx/>
                <a:uFillTx/>
                <a:latin typeface="Times New Roman" panose="02020603050405020304"/>
                <a:ea typeface="+mn-ea"/>
                <a:cs typeface="+mn-cs"/>
              </a:rPr>
              <a:t>11</a:t>
            </a:r>
          </a:p>
        </p:txBody>
      </p:sp>
      <p:sp>
        <p:nvSpPr>
          <p:cNvPr id="3" name="TextBox 2">
            <a:extLst>
              <a:ext uri="{FF2B5EF4-FFF2-40B4-BE49-F238E27FC236}">
                <a16:creationId xmlns:a16="http://schemas.microsoft.com/office/drawing/2014/main" id="{25D05502-309D-4372-A77A-6F4AE5E24619}"/>
              </a:ext>
            </a:extLst>
          </p:cNvPr>
          <p:cNvSpPr txBox="1"/>
          <p:nvPr/>
        </p:nvSpPr>
        <p:spPr>
          <a:xfrm>
            <a:off x="1055688" y="1378176"/>
            <a:ext cx="7876268" cy="5078313"/>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Hardware Requirements</a:t>
            </a:r>
          </a:p>
          <a:p>
            <a:endParaRPr lang="en-IN" sz="2400" b="1" dirty="0">
              <a:latin typeface="Times New Roman" panose="02020603050405020304" pitchFamily="18" charset="0"/>
              <a:cs typeface="Times New Roman" panose="02020603050405020304" pitchFamily="18" charset="0"/>
            </a:endParaRPr>
          </a:p>
          <a:p>
            <a:pPr marL="800100" lvl="1"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Processor</a:t>
            </a:r>
            <a:r>
              <a:rPr lang="en-IN" sz="2000" dirty="0">
                <a:latin typeface="Times New Roman" panose="02020603050405020304" pitchFamily="18" charset="0"/>
                <a:cs typeface="Times New Roman" panose="02020603050405020304" pitchFamily="18" charset="0"/>
              </a:rPr>
              <a:t> :Intel i5 or equivalent (minimum)</a:t>
            </a:r>
          </a:p>
          <a:p>
            <a:pPr marL="800100" lvl="1"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RAM</a:t>
            </a:r>
            <a:r>
              <a:rPr lang="en-IN" sz="2000" dirty="0">
                <a:latin typeface="Times New Roman" panose="02020603050405020304" pitchFamily="18" charset="0"/>
                <a:cs typeface="Times New Roman" panose="02020603050405020304" pitchFamily="18" charset="0"/>
              </a:rPr>
              <a:t>: 4 GB (8 GB recommended)</a:t>
            </a:r>
          </a:p>
          <a:p>
            <a:pPr marL="800100" lvl="1"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Storage</a:t>
            </a:r>
            <a:r>
              <a:rPr lang="en-IN" sz="2000" dirty="0">
                <a:latin typeface="Times New Roman" panose="02020603050405020304" pitchFamily="18" charset="0"/>
                <a:cs typeface="Times New Roman" panose="02020603050405020304" pitchFamily="18" charset="0"/>
              </a:rPr>
              <a:t>: 2 GB of free disk space for data and logs</a:t>
            </a:r>
          </a:p>
          <a:p>
            <a:pPr marL="800100" lvl="1"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Operating System</a:t>
            </a:r>
            <a:r>
              <a:rPr lang="en-IN" sz="2000" dirty="0">
                <a:latin typeface="Times New Roman" panose="02020603050405020304" pitchFamily="18" charset="0"/>
                <a:cs typeface="Times New Roman" panose="02020603050405020304" pitchFamily="18" charset="0"/>
              </a:rPr>
              <a:t>: Windows 10 / Linux / macOS</a:t>
            </a:r>
          </a:p>
          <a:p>
            <a:pPr lvl="1"/>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Software Requirements</a:t>
            </a:r>
          </a:p>
          <a:p>
            <a:endParaRPr lang="en-IN" sz="2400" b="1" dirty="0">
              <a:latin typeface="Times New Roman" panose="02020603050405020304" pitchFamily="18" charset="0"/>
              <a:cs typeface="Times New Roman" panose="02020603050405020304" pitchFamily="18" charset="0"/>
            </a:endParaRPr>
          </a:p>
          <a:p>
            <a:pPr marL="800100" lvl="1"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Python 3.x</a:t>
            </a:r>
            <a:r>
              <a:rPr lang="en-IN" sz="2000" dirty="0">
                <a:latin typeface="Times New Roman" panose="02020603050405020304" pitchFamily="18" charset="0"/>
                <a:cs typeface="Times New Roman" panose="02020603050405020304" pitchFamily="18" charset="0"/>
              </a:rPr>
              <a:t> (with Pandas, Matplotlib, Seaborn, </a:t>
            </a:r>
            <a:r>
              <a:rPr lang="en-IN" sz="2000" dirty="0" err="1">
                <a:latin typeface="Times New Roman" panose="02020603050405020304" pitchFamily="18" charset="0"/>
                <a:cs typeface="Times New Roman" panose="02020603050405020304" pitchFamily="18" charset="0"/>
              </a:rPr>
              <a:t>Jupyter</a:t>
            </a:r>
            <a:r>
              <a:rPr lang="en-IN" sz="2000" dirty="0">
                <a:latin typeface="Times New Roman" panose="02020603050405020304" pitchFamily="18" charset="0"/>
                <a:cs typeface="Times New Roman" panose="02020603050405020304" pitchFamily="18" charset="0"/>
              </a:rPr>
              <a:t> Notebook)</a:t>
            </a:r>
          </a:p>
          <a:p>
            <a:pPr marL="800100" lvl="1"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Tableau (optional for dashboarding)</a:t>
            </a:r>
            <a:endParaRPr lang="en-IN" sz="20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09600" y="298451"/>
            <a:ext cx="10972800" cy="6065837"/>
          </a:xfrm>
          <a:prstGeom prst="rect">
            <a:avLst/>
          </a:prstGeom>
        </p:spPr>
        <p:txBody>
          <a:bodyPr lIns="0" tIns="0" rIns="0" bIns="0">
            <a:noAutofit/>
          </a:bodyPr>
          <a:lstStyle/>
          <a:p>
            <a:pPr marL="152400" marR="0" lvl="0" indent="0" algn="l" defTabSz="914400" rtl="0" eaLnBrk="1" fontAlgn="auto" latinLnBrk="0" hangingPunct="1">
              <a:lnSpc>
                <a:spcPct val="100000"/>
              </a:lnSpc>
              <a:spcBef>
                <a:spcPts val="0"/>
              </a:spcBef>
              <a:spcAft>
                <a:spcPts val="2520"/>
              </a:spcAft>
              <a:buClrTx/>
              <a:buSzTx/>
              <a:buFontTx/>
              <a:buNone/>
              <a:defRPr/>
            </a:pPr>
            <a:r>
              <a:rPr kumimoji="0" lang="en-US" sz="3200" b="1" i="0" u="none" strike="noStrike" kern="1200" cap="none" spc="0" normalizeH="0" baseline="0" noProof="0" dirty="0">
                <a:ln>
                  <a:noFill/>
                </a:ln>
                <a:solidFill>
                  <a:srgbClr val="FF0000"/>
                </a:solidFill>
                <a:effectLst/>
                <a:uLnTx/>
                <a:uFillTx/>
                <a:latin typeface="Times New Roman" panose="02020603050405020304"/>
                <a:ea typeface="+mn-ea"/>
                <a:cs typeface="+mn-cs"/>
              </a:rPr>
              <a:t>Implementation</a:t>
            </a:r>
          </a:p>
          <a:p>
            <a:pPr lvl="0" eaLnBrk="1" fontAlgn="auto" hangingPunct="1">
              <a:lnSpc>
                <a:spcPts val="2950"/>
              </a:lnSpc>
              <a:spcBef>
                <a:spcPts val="0"/>
              </a:spcBef>
              <a:spcAft>
                <a:spcPts val="420"/>
              </a:spcAft>
              <a:defRPr/>
            </a:pPr>
            <a:r>
              <a:rPr lang="en-US" sz="2400" dirty="0">
                <a:solidFill>
                  <a:srgbClr val="384150"/>
                </a:solidFill>
                <a:latin typeface="Times New Roman" panose="02020603050405020304" pitchFamily="18" charset="0"/>
                <a:cs typeface="Times New Roman" panose="02020603050405020304" pitchFamily="18" charset="0"/>
              </a:rPr>
              <a:t> </a:t>
            </a:r>
            <a:endParaRPr kumimoji="0" lang="en-US" sz="2400" b="0" i="0" u="none" strike="noStrike" kern="1200" cap="none" spc="0" normalizeH="0" baseline="0" noProof="0" dirty="0">
              <a:ln>
                <a:noFill/>
              </a:ln>
              <a:solidFill>
                <a:srgbClr val="384150"/>
              </a:solidFill>
              <a:effectLst/>
              <a:uLnTx/>
              <a:uFillTx/>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ts val="2950"/>
              </a:lnSpc>
              <a:spcBef>
                <a:spcPts val="0"/>
              </a:spcBef>
              <a:spcAft>
                <a:spcPts val="420"/>
              </a:spcAft>
              <a:buClrTx/>
              <a:buSzTx/>
              <a:buFontTx/>
              <a:buNone/>
              <a:defRPr/>
            </a:pPr>
            <a:endParaRPr kumimoji="0" lang="en-US" sz="2400" b="0" i="0" u="none" strike="noStrike" kern="1200" cap="none" spc="0" normalizeH="0" baseline="0" noProof="0" dirty="0">
              <a:ln>
                <a:noFill/>
              </a:ln>
              <a:solidFill>
                <a:srgbClr val="384150"/>
              </a:solidFill>
              <a:effectLst/>
              <a:uLnTx/>
              <a:uFillTx/>
              <a:latin typeface="Times New Roman" panose="02020603050405020304"/>
              <a:ea typeface="+mn-ea"/>
              <a:cs typeface="+mn-cs"/>
            </a:endParaRPr>
          </a:p>
        </p:txBody>
      </p:sp>
      <p:sp>
        <p:nvSpPr>
          <p:cNvPr id="19459" name="Rectangle 2"/>
          <p:cNvSpPr/>
          <p:nvPr/>
        </p:nvSpPr>
        <p:spPr>
          <a:xfrm>
            <a:off x="12066588" y="6229350"/>
            <a:ext cx="125412" cy="134938"/>
          </a:xfrm>
          <a:prstGeom prst="rect">
            <a:avLst/>
          </a:prstGeom>
          <a:noFill/>
          <a:ln w="9525">
            <a:noFill/>
          </a:ln>
        </p:spPr>
        <p:txBody>
          <a:bodyPr wrap="none" lIns="0" tIns="0" rIns="0" bIns="0"/>
          <a:lstStyle/>
          <a:p>
            <a:pPr eaLnBrk="1" hangingPunct="1">
              <a:buNone/>
            </a:pPr>
            <a:r>
              <a:rPr sz="1000" b="1" dirty="0">
                <a:solidFill>
                  <a:srgbClr val="898989"/>
                </a:solidFill>
                <a:latin typeface="Tahoma" panose="020B0604030504040204" pitchFamily="34" charset="0"/>
              </a:rPr>
              <a:t>17</a:t>
            </a:r>
          </a:p>
        </p:txBody>
      </p:sp>
      <p:sp>
        <p:nvSpPr>
          <p:cNvPr id="5" name="TextBox 4">
            <a:extLst>
              <a:ext uri="{FF2B5EF4-FFF2-40B4-BE49-F238E27FC236}">
                <a16:creationId xmlns:a16="http://schemas.microsoft.com/office/drawing/2014/main" id="{4D1872E4-DAE7-4916-8AD8-0B8D90746942}"/>
              </a:ext>
            </a:extLst>
          </p:cNvPr>
          <p:cNvSpPr txBox="1"/>
          <p:nvPr/>
        </p:nvSpPr>
        <p:spPr>
          <a:xfrm>
            <a:off x="979714" y="1382486"/>
            <a:ext cx="9775372" cy="5115311"/>
          </a:xfrm>
          <a:prstGeom prst="rect">
            <a:avLst/>
          </a:prstGeom>
          <a:noFill/>
        </p:spPr>
        <p:txBody>
          <a:bodyPr wrap="square" rtlCol="0">
            <a:spAutoFit/>
          </a:bodyPr>
          <a:lstStyle/>
          <a:p>
            <a:pPr>
              <a:lnSpc>
                <a:spcPct val="150000"/>
              </a:lnSpc>
            </a:pPr>
            <a:r>
              <a:rPr lang="en-US" sz="2000" b="1" dirty="0">
                <a:latin typeface="Times New Roman" panose="02020603050405020304" pitchFamily="18" charset="0"/>
                <a:cs typeface="Times New Roman" panose="02020603050405020304" pitchFamily="18" charset="0"/>
              </a:rPr>
              <a:t>Data Cleaning:</a:t>
            </a:r>
            <a:r>
              <a:rPr lang="en-US" sz="2000" dirty="0">
                <a:latin typeface="Times New Roman" panose="02020603050405020304" pitchFamily="18" charset="0"/>
                <a:cs typeface="Times New Roman" panose="02020603050405020304" pitchFamily="18" charset="0"/>
              </a:rPr>
              <a:t> Cleaned the dataset by fixing missing Ship Dates, correcting data types, and removing duplicates.</a:t>
            </a:r>
          </a:p>
          <a:p>
            <a:pPr>
              <a:lnSpc>
                <a:spcPct val="150000"/>
              </a:lnSpc>
            </a:pPr>
            <a:r>
              <a:rPr lang="en-US" sz="2000" b="1" dirty="0">
                <a:latin typeface="Times New Roman" panose="02020603050405020304" pitchFamily="18" charset="0"/>
                <a:cs typeface="Times New Roman" panose="02020603050405020304" pitchFamily="18" charset="0"/>
              </a:rPr>
              <a:t>Feature Engineering:</a:t>
            </a:r>
            <a:r>
              <a:rPr lang="en-US" sz="2000" dirty="0">
                <a:latin typeface="Times New Roman" panose="02020603050405020304" pitchFamily="18" charset="0"/>
                <a:cs typeface="Times New Roman" panose="02020603050405020304" pitchFamily="18" charset="0"/>
              </a:rPr>
              <a:t> Added new fields like Order Year, Order Month, Profit Margin, and Ship Duration for deeper insights.</a:t>
            </a:r>
          </a:p>
          <a:p>
            <a:pPr>
              <a:lnSpc>
                <a:spcPct val="150000"/>
              </a:lnSpc>
            </a:pPr>
            <a:r>
              <a:rPr lang="en-US" sz="2000" b="1" dirty="0">
                <a:latin typeface="Times New Roman" panose="02020603050405020304" pitchFamily="18" charset="0"/>
                <a:cs typeface="Times New Roman" panose="02020603050405020304" pitchFamily="18" charset="0"/>
              </a:rPr>
              <a:t>EDA:</a:t>
            </a:r>
            <a:r>
              <a:rPr lang="en-US" sz="2000" dirty="0">
                <a:latin typeface="Times New Roman" panose="02020603050405020304" pitchFamily="18" charset="0"/>
                <a:cs typeface="Times New Roman" panose="02020603050405020304" pitchFamily="18" charset="0"/>
              </a:rPr>
              <a:t> Analyzed sales, profit, discount, categories, segments, and regions using Python visualizations.</a:t>
            </a:r>
          </a:p>
          <a:p>
            <a:pPr>
              <a:lnSpc>
                <a:spcPct val="150000"/>
              </a:lnSpc>
            </a:pPr>
            <a:r>
              <a:rPr lang="en-US" sz="2000" b="1" dirty="0">
                <a:latin typeface="Times New Roman" panose="02020603050405020304" pitchFamily="18" charset="0"/>
                <a:cs typeface="Times New Roman" panose="02020603050405020304" pitchFamily="18" charset="0"/>
              </a:rPr>
              <a:t>Dashboard (Tableau):</a:t>
            </a:r>
            <a:r>
              <a:rPr lang="en-US" sz="2000" dirty="0">
                <a:latin typeface="Times New Roman" panose="02020603050405020304" pitchFamily="18" charset="0"/>
                <a:cs typeface="Times New Roman" panose="02020603050405020304" pitchFamily="18" charset="0"/>
              </a:rPr>
              <a:t> Built an interactive dashboard with KPIs, maps, category charts, and time-series trends.</a:t>
            </a:r>
          </a:p>
          <a:p>
            <a:pPr>
              <a:lnSpc>
                <a:spcPct val="150000"/>
              </a:lnSpc>
            </a:pPr>
            <a:r>
              <a:rPr lang="en-US" sz="2000" b="1" dirty="0">
                <a:latin typeface="Times New Roman" panose="02020603050405020304" pitchFamily="18" charset="0"/>
                <a:cs typeface="Times New Roman" panose="02020603050405020304" pitchFamily="18" charset="0"/>
              </a:rPr>
              <a:t>Insights &amp; Reporting:</a:t>
            </a:r>
            <a:r>
              <a:rPr lang="en-US" sz="2000" dirty="0">
                <a:latin typeface="Times New Roman" panose="02020603050405020304" pitchFamily="18" charset="0"/>
                <a:cs typeface="Times New Roman" panose="02020603050405020304" pitchFamily="18" charset="0"/>
              </a:rPr>
              <a:t> Identified key profit drivers, loss areas, discount impact, and provided business recommendations.</a:t>
            </a:r>
          </a:p>
          <a:p>
            <a:pPr marL="457200" indent="-457200">
              <a:lnSpc>
                <a:spcPct val="150000"/>
              </a:lnSpc>
              <a:buFont typeface="+mj-lt"/>
              <a:buAutoNum type="arabicParenR"/>
            </a:pPr>
            <a:endParaRPr lang="en-IN" sz="2000" dirty="0">
              <a:latin typeface="Times New Roman" panose="02020603050405020304" pitchFamily="18"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8866EDE-71F0-9482-08F6-240C38FC32DC}"/>
              </a:ext>
            </a:extLst>
          </p:cNvPr>
          <p:cNvPicPr>
            <a:picLocks noChangeAspect="1"/>
          </p:cNvPicPr>
          <p:nvPr/>
        </p:nvPicPr>
        <p:blipFill>
          <a:blip r:embed="rId2">
            <a:extLst>
              <a:ext uri="{28A0092B-C50C-407E-A947-70E740481C1C}">
                <a14:useLocalDpi xmlns:a14="http://schemas.microsoft.com/office/drawing/2010/main" val="0"/>
              </a:ext>
            </a:extLst>
          </a:blip>
          <a:srcRect l="1452" t="29557" r="1450" b="24949"/>
          <a:stretch>
            <a:fillRect/>
          </a:stretch>
        </p:blipFill>
        <p:spPr>
          <a:xfrm>
            <a:off x="1120876" y="1602657"/>
            <a:ext cx="7983795" cy="4906297"/>
          </a:xfrm>
          <a:prstGeom prst="rect">
            <a:avLst/>
          </a:prstGeom>
        </p:spPr>
      </p:pic>
      <p:sp>
        <p:nvSpPr>
          <p:cNvPr id="4" name="Title 3">
            <a:extLst>
              <a:ext uri="{FF2B5EF4-FFF2-40B4-BE49-F238E27FC236}">
                <a16:creationId xmlns:a16="http://schemas.microsoft.com/office/drawing/2014/main" id="{DF7BEA76-4F6F-DC7D-4726-E2B18E81729C}"/>
              </a:ext>
            </a:extLst>
          </p:cNvPr>
          <p:cNvSpPr>
            <a:spLocks noGrp="1"/>
          </p:cNvSpPr>
          <p:nvPr>
            <p:ph type="title"/>
          </p:nvPr>
        </p:nvSpPr>
        <p:spPr/>
        <p:txBody>
          <a:bodyPr>
            <a:normAutofit/>
          </a:bodyPr>
          <a:lstStyle/>
          <a:p>
            <a:r>
              <a:rPr lang="en-US" sz="3200" b="1" dirty="0">
                <a:solidFill>
                  <a:srgbClr val="FF0000"/>
                </a:solidFill>
                <a:latin typeface="Times New Roman" panose="02020603050405020304" pitchFamily="18" charset="0"/>
                <a:cs typeface="Times New Roman" panose="02020603050405020304" pitchFamily="18" charset="0"/>
              </a:rPr>
              <a:t>Superstore Profit analysis Architecture</a:t>
            </a:r>
            <a:endParaRPr lang="en-IN" sz="32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6292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2BAAB41-052D-4D93-964B-7620D4F30137}"/>
              </a:ext>
            </a:extLst>
          </p:cNvPr>
          <p:cNvSpPr txBox="1"/>
          <p:nvPr/>
        </p:nvSpPr>
        <p:spPr>
          <a:xfrm>
            <a:off x="1158098" y="189622"/>
            <a:ext cx="5094515" cy="523220"/>
          </a:xfrm>
          <a:prstGeom prst="rect">
            <a:avLst/>
          </a:prstGeom>
          <a:noFill/>
        </p:spPr>
        <p:txBody>
          <a:bodyPr wrap="square" rtlCol="0">
            <a:spAutoFit/>
          </a:bodyPr>
          <a:lstStyle/>
          <a:p>
            <a:r>
              <a:rPr lang="en-US" sz="2800" b="1" dirty="0">
                <a:solidFill>
                  <a:srgbClr val="FF0000"/>
                </a:solidFill>
                <a:latin typeface="Times New Roman" panose="02020603050405020304" pitchFamily="18" charset="0"/>
                <a:cs typeface="Times New Roman" panose="02020603050405020304" pitchFamily="18" charset="0"/>
              </a:rPr>
              <a:t>OUTPUT</a:t>
            </a:r>
            <a:endParaRPr lang="en-IN" sz="2800" b="1" dirty="0">
              <a:solidFill>
                <a:srgbClr val="FF0000"/>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C03D45C2-B730-3FB9-B299-C86D56E2C291}"/>
              </a:ext>
            </a:extLst>
          </p:cNvPr>
          <p:cNvPicPr>
            <a:picLocks noChangeAspect="1"/>
          </p:cNvPicPr>
          <p:nvPr/>
        </p:nvPicPr>
        <p:blipFill>
          <a:blip r:embed="rId2"/>
          <a:stretch>
            <a:fillRect/>
          </a:stretch>
        </p:blipFill>
        <p:spPr>
          <a:xfrm>
            <a:off x="845573" y="712842"/>
            <a:ext cx="10992465" cy="5845275"/>
          </a:xfrm>
          <a:prstGeom prst="rect">
            <a:avLst/>
          </a:prstGeom>
        </p:spPr>
      </p:pic>
    </p:spTree>
    <p:extLst>
      <p:ext uri="{BB962C8B-B14F-4D97-AF65-F5344CB8AC3E}">
        <p14:creationId xmlns:p14="http://schemas.microsoft.com/office/powerpoint/2010/main" val="23099473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54" name="Rectangle 1"/>
          <p:cNvSpPr/>
          <p:nvPr/>
        </p:nvSpPr>
        <p:spPr>
          <a:xfrm>
            <a:off x="752475" y="509133"/>
            <a:ext cx="2428875" cy="582247"/>
          </a:xfrm>
          <a:prstGeom prst="rect">
            <a:avLst/>
          </a:prstGeom>
          <a:noFill/>
          <a:ln w="9525">
            <a:noFill/>
          </a:ln>
        </p:spPr>
        <p:txBody>
          <a:bodyPr wrap="none" lIns="0" tIns="0" rIns="0" bIns="0"/>
          <a:lstStyle/>
          <a:p>
            <a:pPr eaLnBrk="1" hangingPunct="1">
              <a:buNone/>
            </a:pPr>
            <a:r>
              <a:rPr sz="3200" b="1" dirty="0">
                <a:solidFill>
                  <a:srgbClr val="FF0000"/>
                </a:solidFill>
                <a:latin typeface="Times New Roman" panose="02020603050405020304" pitchFamily="18" charset="0"/>
              </a:rPr>
              <a:t>Conclusion</a:t>
            </a:r>
          </a:p>
        </p:txBody>
      </p:sp>
      <p:sp>
        <p:nvSpPr>
          <p:cNvPr id="23555" name="Rectangle 2"/>
          <p:cNvSpPr/>
          <p:nvPr/>
        </p:nvSpPr>
        <p:spPr>
          <a:xfrm>
            <a:off x="839561" y="1337187"/>
            <a:ext cx="10760075" cy="4802356"/>
          </a:xfrm>
          <a:prstGeom prst="rect">
            <a:avLst/>
          </a:prstGeom>
          <a:noFill/>
          <a:ln w="9525">
            <a:noFill/>
          </a:ln>
        </p:spPr>
        <p:txBody>
          <a:bodyPr lIns="0" tIns="0" rIns="0" bIns="0"/>
          <a:lstStyle/>
          <a:p>
            <a:pPr marL="357505" indent="-342900" algn="just" eaLnBrk="1" hangingPunct="1">
              <a:lnSpc>
                <a:spcPct val="150000"/>
              </a:lnSpc>
              <a:buFont typeface="Arial" panose="020B0604020202020204" pitchFamily="34" charset="0"/>
              <a:buChar char="•"/>
            </a:pPr>
            <a:r>
              <a:rPr lang="en-US" sz="2000" dirty="0">
                <a:latin typeface="Times New Roman" panose="02020603050405020304" pitchFamily="18" charset="0"/>
              </a:rPr>
              <a:t>The Superstore Sales Data Analysis project demonstrates how data analytics can transform raw retail data into actionable business insights.</a:t>
            </a:r>
          </a:p>
          <a:p>
            <a:pPr marL="357505" indent="-342900" algn="just" eaLnBrk="1" hangingPunct="1">
              <a:lnSpc>
                <a:spcPct val="150000"/>
              </a:lnSpc>
              <a:buFont typeface="Arial" panose="020B0604020202020204" pitchFamily="34" charset="0"/>
              <a:buChar char="•"/>
            </a:pPr>
            <a:r>
              <a:rPr lang="en-US" sz="2000" dirty="0">
                <a:latin typeface="Times New Roman" panose="02020603050405020304" pitchFamily="18" charset="0"/>
              </a:rPr>
              <a:t>By integrating Python, and visualization tools, the system effectively identifies trends in sales, profit, customer behavior, and regional performance.</a:t>
            </a:r>
          </a:p>
          <a:p>
            <a:pPr marL="357505" indent="-342900" algn="just" eaLnBrk="1" hangingPunct="1">
              <a:lnSpc>
                <a:spcPct val="150000"/>
              </a:lnSpc>
              <a:buFont typeface="Arial" panose="020B0604020202020204" pitchFamily="34" charset="0"/>
              <a:buChar char="•"/>
            </a:pPr>
            <a:r>
              <a:rPr lang="en-US" sz="2000" dirty="0">
                <a:latin typeface="Times New Roman" panose="02020603050405020304" pitchFamily="18" charset="0"/>
              </a:rPr>
              <a:t>The proposed system is scalable, modular, and suited for real-world business applications.</a:t>
            </a:r>
          </a:p>
          <a:p>
            <a:pPr marL="357505" indent="-342900" algn="just" eaLnBrk="1" hangingPunct="1">
              <a:lnSpc>
                <a:spcPct val="150000"/>
              </a:lnSpc>
              <a:buFont typeface="Arial" panose="020B0604020202020204" pitchFamily="34" charset="0"/>
              <a:buChar char="•"/>
            </a:pPr>
            <a:r>
              <a:rPr lang="en-US" sz="2000" dirty="0">
                <a:latin typeface="Times New Roman" panose="02020603050405020304" pitchFamily="18" charset="0"/>
              </a:rPr>
              <a:t>These insights empower the organization to make data-driven decisions, optimize operations, and improve customer engagement and profitability</a:t>
            </a:r>
            <a:r>
              <a:rPr lang="en-US" sz="2400" dirty="0">
                <a:latin typeface="Times New Roman" panose="02020603050405020304" pitchFamily="18" charset="0"/>
              </a:rPr>
              <a:t>.</a:t>
            </a:r>
            <a:endParaRPr sz="2400" dirty="0">
              <a:solidFill>
                <a:srgbClr val="384150"/>
              </a:solidFill>
              <a:latin typeface="Times New Roman" panose="02020603050405020304" pitchFamily="18" charset="0"/>
            </a:endParaRPr>
          </a:p>
        </p:txBody>
      </p:sp>
      <p:sp>
        <p:nvSpPr>
          <p:cNvPr id="4" name="Rectangle 3"/>
          <p:cNvSpPr/>
          <p:nvPr/>
        </p:nvSpPr>
        <p:spPr>
          <a:xfrm>
            <a:off x="12063413" y="6229350"/>
            <a:ext cx="128588" cy="134938"/>
          </a:xfrm>
          <a:prstGeom prst="rect">
            <a:avLst/>
          </a:prstGeom>
        </p:spPr>
        <p:txBody>
          <a:bodyPr wrap="none"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950" b="0" i="1" u="none" strike="noStrike" kern="1200" cap="none" spc="0" normalizeH="0" baseline="0" noProof="0">
                <a:ln>
                  <a:noFill/>
                </a:ln>
                <a:solidFill>
                  <a:srgbClr val="898989"/>
                </a:solidFill>
                <a:effectLst/>
                <a:uLnTx/>
                <a:uFillTx/>
                <a:latin typeface="Times New Roman" panose="02020603050405020304"/>
                <a:ea typeface="+mn-ea"/>
                <a:cs typeface="+mn-cs"/>
              </a:rPr>
              <a:t>21</a:t>
            </a:r>
          </a:p>
        </p:txBody>
      </p:sp>
    </p:spTree>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C645F0-80FE-40C8-B4FD-1A4B224220C0}"/>
              </a:ext>
            </a:extLst>
          </p:cNvPr>
          <p:cNvSpPr txBox="1"/>
          <p:nvPr/>
        </p:nvSpPr>
        <p:spPr>
          <a:xfrm>
            <a:off x="1258530" y="2921168"/>
            <a:ext cx="8952270" cy="1015663"/>
          </a:xfrm>
          <a:prstGeom prst="rect">
            <a:avLst/>
          </a:prstGeom>
          <a:noFill/>
        </p:spPr>
        <p:txBody>
          <a:bodyPr wrap="square" rtlCol="0">
            <a:spAutoFit/>
          </a:bodyPr>
          <a:lstStyle/>
          <a:p>
            <a:pPr algn="ctr"/>
            <a:r>
              <a:rPr lang="en-US" sz="6000" dirty="0">
                <a:latin typeface="Times New Roman" panose="02020603050405020304" pitchFamily="18" charset="0"/>
                <a:cs typeface="Times New Roman" panose="02020603050405020304" pitchFamily="18" charset="0"/>
              </a:rPr>
              <a:t>Thank You!</a:t>
            </a:r>
            <a:endParaRPr lang="en-IN" sz="6000" dirty="0">
              <a:latin typeface="Times New Roman" panose="02020603050405020304" pitchFamily="18"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241</TotalTime>
  <Words>778</Words>
  <Application>Microsoft Office PowerPoint</Application>
  <PresentationFormat>Widescreen</PresentationFormat>
  <Paragraphs>83</Paragraphs>
  <Slides>13</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Calibri</vt:lpstr>
      <vt:lpstr>Calibri Light</vt:lpstr>
      <vt:lpstr>Cambria</vt:lpstr>
      <vt:lpstr>Tahoma</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Superstore Profit analysis Architecture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snehatejavath14@gmail.com</cp:lastModifiedBy>
  <cp:revision>19</cp:revision>
  <dcterms:created xsi:type="dcterms:W3CDTF">2024-06-17T16:05:32Z</dcterms:created>
  <dcterms:modified xsi:type="dcterms:W3CDTF">2025-11-08T17:17:50Z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F53330C2FEBA431DB90B91A023A29D4E_12</vt:lpwstr>
  </property>
  <property fmtid="{D5CDD505-2E9C-101B-9397-08002B2CF9AE}" pid="3" name="KSOProductBuildVer">
    <vt:lpwstr>1033-12.2.0.17119</vt:lpwstr>
  </property>
</Properties>
</file>